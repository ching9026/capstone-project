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18"/>
  </p:notesMasterIdLst>
  <p:sldIdLst>
    <p:sldId id="256" r:id="rId2"/>
    <p:sldId id="259" r:id="rId3"/>
    <p:sldId id="257" r:id="rId4"/>
    <p:sldId id="270" r:id="rId5"/>
    <p:sldId id="258" r:id="rId6"/>
    <p:sldId id="260" r:id="rId7"/>
    <p:sldId id="261" r:id="rId8"/>
    <p:sldId id="262" r:id="rId9"/>
    <p:sldId id="263" r:id="rId10"/>
    <p:sldId id="264" r:id="rId11"/>
    <p:sldId id="265" r:id="rId12"/>
    <p:sldId id="267" r:id="rId13"/>
    <p:sldId id="274" r:id="rId14"/>
    <p:sldId id="268" r:id="rId15"/>
    <p:sldId id="269"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p:scale>
          <a:sx n="75" d="100"/>
          <a:sy n="75" d="100"/>
        </p:scale>
        <p:origin x="965" y="2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AC199C-BBCC-4683-8384-2464DB01091B}" type="doc">
      <dgm:prSet loTypeId="urn:microsoft.com/office/officeart/2005/8/layout/process5" loCatId="process" qsTypeId="urn:microsoft.com/office/officeart/2005/8/quickstyle/simple1" qsCatId="simple" csTypeId="urn:microsoft.com/office/officeart/2005/8/colors/accent0_3" csCatId="mainScheme"/>
      <dgm:spPr/>
      <dgm:t>
        <a:bodyPr/>
        <a:lstStyle/>
        <a:p>
          <a:endParaRPr lang="en-US"/>
        </a:p>
      </dgm:t>
    </dgm:pt>
    <dgm:pt modelId="{B701D65C-653D-4FA8-BFE1-533CCF14A45F}">
      <dgm:prSet/>
      <dgm:spPr/>
      <dgm:t>
        <a:bodyPr/>
        <a:lstStyle/>
        <a:p>
          <a:r>
            <a:rPr lang="zh-TW" dirty="0"/>
            <a:t>計算出相似度排序後</a:t>
          </a:r>
          <a:endParaRPr lang="en-US" dirty="0"/>
        </a:p>
      </dgm:t>
    </dgm:pt>
    <dgm:pt modelId="{CCA5A5AD-61A5-4F10-85E7-12A7FA3AE69E}" type="parTrans" cxnId="{7DB01FAA-370A-43F0-9411-02F2C9E8A658}">
      <dgm:prSet/>
      <dgm:spPr/>
      <dgm:t>
        <a:bodyPr/>
        <a:lstStyle/>
        <a:p>
          <a:endParaRPr lang="en-US"/>
        </a:p>
      </dgm:t>
    </dgm:pt>
    <dgm:pt modelId="{071EBE43-CA44-4E19-B5A8-0C684F66340E}" type="sibTrans" cxnId="{7DB01FAA-370A-43F0-9411-02F2C9E8A658}">
      <dgm:prSet/>
      <dgm:spPr/>
      <dgm:t>
        <a:bodyPr/>
        <a:lstStyle/>
        <a:p>
          <a:endParaRPr lang="en-US"/>
        </a:p>
      </dgm:t>
    </dgm:pt>
    <dgm:pt modelId="{FC827CCA-1321-4F42-96BE-A0A66B4D8AF2}">
      <dgm:prSet/>
      <dgm:spPr/>
      <dgm:t>
        <a:bodyPr/>
        <a:lstStyle/>
        <a:p>
          <a:r>
            <a:rPr lang="zh-TW"/>
            <a:t>用</a:t>
          </a:r>
          <a:r>
            <a:rPr lang="en-US"/>
            <a:t>Round-Robin</a:t>
          </a:r>
          <a:r>
            <a:rPr lang="zh-TW"/>
            <a:t>的排法排到</a:t>
          </a:r>
          <a:r>
            <a:rPr lang="en-US"/>
            <a:t>10</a:t>
          </a:r>
          <a:r>
            <a:rPr lang="zh-TW"/>
            <a:t>份</a:t>
          </a:r>
          <a:endParaRPr lang="en-US"/>
        </a:p>
      </dgm:t>
    </dgm:pt>
    <dgm:pt modelId="{1931C91E-B906-4C70-AE67-213C7A5E8BDA}" type="parTrans" cxnId="{F9F5487F-856C-457B-A7C2-04BB1AB32CE1}">
      <dgm:prSet/>
      <dgm:spPr/>
      <dgm:t>
        <a:bodyPr/>
        <a:lstStyle/>
        <a:p>
          <a:endParaRPr lang="en-US"/>
        </a:p>
      </dgm:t>
    </dgm:pt>
    <dgm:pt modelId="{A16671BF-EF2F-4242-80CF-B01DD7CA3133}" type="sibTrans" cxnId="{F9F5487F-856C-457B-A7C2-04BB1AB32CE1}">
      <dgm:prSet/>
      <dgm:spPr/>
      <dgm:t>
        <a:bodyPr/>
        <a:lstStyle/>
        <a:p>
          <a:endParaRPr lang="en-US"/>
        </a:p>
      </dgm:t>
    </dgm:pt>
    <dgm:pt modelId="{400D217C-D3B1-4B8C-90BD-066E05CBBE2D}">
      <dgm:prSet/>
      <dgm:spPr/>
      <dgm:t>
        <a:bodyPr/>
        <a:lstStyle/>
        <a:p>
          <a:r>
            <a:rPr lang="zh-TW"/>
            <a:t>根據排序先取相似度最高的第一組</a:t>
          </a:r>
          <a:endParaRPr lang="en-US"/>
        </a:p>
      </dgm:t>
    </dgm:pt>
    <dgm:pt modelId="{E9BB42BC-0C3A-46B0-8D8C-3F84E631E8A1}" type="parTrans" cxnId="{C61143B1-5A41-46DB-AF7D-8867BB5B198F}">
      <dgm:prSet/>
      <dgm:spPr/>
      <dgm:t>
        <a:bodyPr/>
        <a:lstStyle/>
        <a:p>
          <a:endParaRPr lang="en-US"/>
        </a:p>
      </dgm:t>
    </dgm:pt>
    <dgm:pt modelId="{9D06B2C4-6EDA-4FA3-BB64-FF61AD1D10B9}" type="sibTrans" cxnId="{C61143B1-5A41-46DB-AF7D-8867BB5B198F}">
      <dgm:prSet/>
      <dgm:spPr/>
      <dgm:t>
        <a:bodyPr/>
        <a:lstStyle/>
        <a:p>
          <a:endParaRPr lang="en-US"/>
        </a:p>
      </dgm:t>
    </dgm:pt>
    <dgm:pt modelId="{7B2EFE19-7342-41EC-946D-04C729636CF5}">
      <dgm:prSet/>
      <dgm:spPr/>
      <dgm:t>
        <a:bodyPr/>
        <a:lstStyle/>
        <a:p>
          <a:r>
            <a:rPr lang="en-US"/>
            <a:t>a.</a:t>
          </a:r>
          <a:r>
            <a:rPr lang="zh-TW"/>
            <a:t>把第一組的第一句先排入到第</a:t>
          </a:r>
          <a:r>
            <a:rPr lang="en-US"/>
            <a:t>1</a:t>
          </a:r>
          <a:r>
            <a:rPr lang="zh-TW"/>
            <a:t>份，且已排入的句子就在相似度排序中去除</a:t>
          </a:r>
          <a:endParaRPr lang="en-US"/>
        </a:p>
      </dgm:t>
    </dgm:pt>
    <dgm:pt modelId="{EC135383-A8D2-4B47-A48F-7B930AE2B81F}" type="parTrans" cxnId="{A7F37A58-7954-4657-B3F7-1A54320C36D6}">
      <dgm:prSet/>
      <dgm:spPr/>
      <dgm:t>
        <a:bodyPr/>
        <a:lstStyle/>
        <a:p>
          <a:endParaRPr lang="en-US"/>
        </a:p>
      </dgm:t>
    </dgm:pt>
    <dgm:pt modelId="{60FE26A7-CF8B-4D5B-9C0D-BDCF4B5A1BB3}" type="sibTrans" cxnId="{A7F37A58-7954-4657-B3F7-1A54320C36D6}">
      <dgm:prSet/>
      <dgm:spPr/>
      <dgm:t>
        <a:bodyPr/>
        <a:lstStyle/>
        <a:p>
          <a:endParaRPr lang="en-US"/>
        </a:p>
      </dgm:t>
    </dgm:pt>
    <dgm:pt modelId="{9354453C-EECA-4896-B87A-7B42DEC5A939}">
      <dgm:prSet/>
      <dgm:spPr/>
      <dgm:t>
        <a:bodyPr/>
        <a:lstStyle/>
        <a:p>
          <a:r>
            <a:rPr lang="en-US"/>
            <a:t>b.</a:t>
          </a:r>
          <a:r>
            <a:rPr lang="zh-TW"/>
            <a:t>再把同組的第二句排到下一份</a:t>
          </a:r>
          <a:endParaRPr lang="en-US"/>
        </a:p>
      </dgm:t>
    </dgm:pt>
    <dgm:pt modelId="{C92C928C-FB47-43CC-BAC2-8878B5B81BB6}" type="parTrans" cxnId="{62C8A9FD-9CAF-48CD-BB3F-A59E41BDAB8B}">
      <dgm:prSet/>
      <dgm:spPr/>
      <dgm:t>
        <a:bodyPr/>
        <a:lstStyle/>
        <a:p>
          <a:endParaRPr lang="en-US"/>
        </a:p>
      </dgm:t>
    </dgm:pt>
    <dgm:pt modelId="{D413E00B-6781-4A35-92FD-F974E3C8DB7E}" type="sibTrans" cxnId="{62C8A9FD-9CAF-48CD-BB3F-A59E41BDAB8B}">
      <dgm:prSet/>
      <dgm:spPr/>
      <dgm:t>
        <a:bodyPr/>
        <a:lstStyle/>
        <a:p>
          <a:endParaRPr lang="en-US"/>
        </a:p>
      </dgm:t>
    </dgm:pt>
    <dgm:pt modelId="{EE04B85E-ECF1-4E79-A84E-23711B8AD196}">
      <dgm:prSet/>
      <dgm:spPr/>
      <dgm:t>
        <a:bodyPr/>
        <a:lstStyle/>
        <a:p>
          <a:r>
            <a:rPr lang="en-US" dirty="0"/>
            <a:t>c.</a:t>
          </a:r>
          <a:r>
            <a:rPr lang="zh-TW" dirty="0"/>
            <a:t>再來先找和這組的第一句相似度最高的接連排到下面的份數直到相似度</a:t>
          </a:r>
          <a:r>
            <a:rPr lang="en-US" dirty="0"/>
            <a:t>&lt;0.7</a:t>
          </a:r>
        </a:p>
      </dgm:t>
    </dgm:pt>
    <dgm:pt modelId="{BAE07F69-A899-4411-9855-3B39D3EC6144}" type="parTrans" cxnId="{61DC8731-7E3A-443E-8F57-689F24897253}">
      <dgm:prSet/>
      <dgm:spPr/>
      <dgm:t>
        <a:bodyPr/>
        <a:lstStyle/>
        <a:p>
          <a:endParaRPr lang="en-US"/>
        </a:p>
      </dgm:t>
    </dgm:pt>
    <dgm:pt modelId="{74810761-5812-4365-8F45-3C23F08F0EEC}" type="sibTrans" cxnId="{61DC8731-7E3A-443E-8F57-689F24897253}">
      <dgm:prSet/>
      <dgm:spPr/>
      <dgm:t>
        <a:bodyPr/>
        <a:lstStyle/>
        <a:p>
          <a:endParaRPr lang="en-US"/>
        </a:p>
      </dgm:t>
    </dgm:pt>
    <dgm:pt modelId="{0B65ACA0-6DB1-4A7E-B78D-0F379759A2C4}">
      <dgm:prSet/>
      <dgm:spPr/>
      <dgm:t>
        <a:bodyPr/>
        <a:lstStyle/>
        <a:p>
          <a:r>
            <a:rPr lang="en-US"/>
            <a:t>d.</a:t>
          </a:r>
          <a:r>
            <a:rPr lang="zh-TW"/>
            <a:t>再來先找和這組的第二句相似度最高的接連排到下面的份數直到相似度</a:t>
          </a:r>
          <a:r>
            <a:rPr lang="en-US"/>
            <a:t>&lt;0.7</a:t>
          </a:r>
        </a:p>
      </dgm:t>
    </dgm:pt>
    <dgm:pt modelId="{531CB939-7831-4677-A643-6138432475C9}" type="parTrans" cxnId="{39165127-25C7-4116-A902-6CAFD2EE7A56}">
      <dgm:prSet/>
      <dgm:spPr/>
      <dgm:t>
        <a:bodyPr/>
        <a:lstStyle/>
        <a:p>
          <a:endParaRPr lang="en-US"/>
        </a:p>
      </dgm:t>
    </dgm:pt>
    <dgm:pt modelId="{CDD32BEA-BA90-447E-B4FD-57B4213F0B89}" type="sibTrans" cxnId="{39165127-25C7-4116-A902-6CAFD2EE7A56}">
      <dgm:prSet/>
      <dgm:spPr/>
      <dgm:t>
        <a:bodyPr/>
        <a:lstStyle/>
        <a:p>
          <a:endParaRPr lang="en-US"/>
        </a:p>
      </dgm:t>
    </dgm:pt>
    <dgm:pt modelId="{5ACDB87B-FE5C-4707-8366-1AB12B89F7FD}">
      <dgm:prSet/>
      <dgm:spPr/>
      <dgm:t>
        <a:bodyPr/>
        <a:lstStyle/>
        <a:p>
          <a:r>
            <a:rPr lang="zh-TW"/>
            <a:t>就可以從相似度排序中找相似度第二高的組</a:t>
          </a:r>
          <a:endParaRPr lang="en-US"/>
        </a:p>
      </dgm:t>
    </dgm:pt>
    <dgm:pt modelId="{E0BAB188-5F31-4BCB-9998-8613AD767B0F}" type="parTrans" cxnId="{EB7547D1-C78D-44C6-8F17-5F75611E243F}">
      <dgm:prSet/>
      <dgm:spPr/>
      <dgm:t>
        <a:bodyPr/>
        <a:lstStyle/>
        <a:p>
          <a:endParaRPr lang="en-US"/>
        </a:p>
      </dgm:t>
    </dgm:pt>
    <dgm:pt modelId="{C1A133F3-D849-4F10-BA08-6250AABCF2E8}" type="sibTrans" cxnId="{EB7547D1-C78D-44C6-8F17-5F75611E243F}">
      <dgm:prSet/>
      <dgm:spPr/>
      <dgm:t>
        <a:bodyPr/>
        <a:lstStyle/>
        <a:p>
          <a:endParaRPr lang="en-US"/>
        </a:p>
      </dgm:t>
    </dgm:pt>
    <dgm:pt modelId="{CE964E7D-A195-49A1-95C8-AE8BBB5A8869}">
      <dgm:prSet/>
      <dgm:spPr/>
      <dgm:t>
        <a:bodyPr/>
        <a:lstStyle/>
        <a:p>
          <a:r>
            <a:rPr lang="zh-TW"/>
            <a:t>接下來就是重複</a:t>
          </a:r>
          <a:r>
            <a:rPr lang="en-US"/>
            <a:t>a.b.c.d.</a:t>
          </a:r>
          <a:r>
            <a:rPr lang="zh-TW"/>
            <a:t>步驟並找下一組直到組別的相似度</a:t>
          </a:r>
          <a:r>
            <a:rPr lang="en-US"/>
            <a:t>&lt;0.7</a:t>
          </a:r>
        </a:p>
      </dgm:t>
    </dgm:pt>
    <dgm:pt modelId="{2C059774-D42C-440A-85EA-A411EB3CCD70}" type="parTrans" cxnId="{3BDDB065-5D38-406C-85E7-BD7927D18792}">
      <dgm:prSet/>
      <dgm:spPr/>
      <dgm:t>
        <a:bodyPr/>
        <a:lstStyle/>
        <a:p>
          <a:endParaRPr lang="en-US"/>
        </a:p>
      </dgm:t>
    </dgm:pt>
    <dgm:pt modelId="{6EA53DDB-339E-49EA-BA3C-46330A55F537}" type="sibTrans" cxnId="{3BDDB065-5D38-406C-85E7-BD7927D18792}">
      <dgm:prSet/>
      <dgm:spPr/>
      <dgm:t>
        <a:bodyPr/>
        <a:lstStyle/>
        <a:p>
          <a:endParaRPr lang="en-US"/>
        </a:p>
      </dgm:t>
    </dgm:pt>
    <dgm:pt modelId="{90331F61-9AA5-4129-8D61-97E3C69B0EA9}">
      <dgm:prSet/>
      <dgm:spPr/>
      <dgm:t>
        <a:bodyPr/>
        <a:lstStyle/>
        <a:p>
          <a:r>
            <a:rPr lang="zh-TW"/>
            <a:t>剩下的句子就直接往後排下去</a:t>
          </a:r>
          <a:endParaRPr lang="en-US"/>
        </a:p>
      </dgm:t>
    </dgm:pt>
    <dgm:pt modelId="{394BB7D8-A24C-4574-9764-D3123CA86953}" type="parTrans" cxnId="{74E6E764-C6F3-43E9-AADB-771F8C6A50F9}">
      <dgm:prSet/>
      <dgm:spPr/>
      <dgm:t>
        <a:bodyPr/>
        <a:lstStyle/>
        <a:p>
          <a:endParaRPr lang="en-US"/>
        </a:p>
      </dgm:t>
    </dgm:pt>
    <dgm:pt modelId="{3D0E9A98-1C5B-415C-9D5D-752FA7917DEA}" type="sibTrans" cxnId="{74E6E764-C6F3-43E9-AADB-771F8C6A50F9}">
      <dgm:prSet/>
      <dgm:spPr/>
      <dgm:t>
        <a:bodyPr/>
        <a:lstStyle/>
        <a:p>
          <a:endParaRPr lang="en-US"/>
        </a:p>
      </dgm:t>
    </dgm:pt>
    <dgm:pt modelId="{FEEEA230-F5AA-4E91-A45B-5E433F3D58AE}" type="pres">
      <dgm:prSet presAssocID="{06AC199C-BBCC-4683-8384-2464DB01091B}" presName="diagram" presStyleCnt="0">
        <dgm:presLayoutVars>
          <dgm:dir/>
          <dgm:resizeHandles val="exact"/>
        </dgm:presLayoutVars>
      </dgm:prSet>
      <dgm:spPr/>
    </dgm:pt>
    <dgm:pt modelId="{7A560EA8-B44E-46E4-BC51-CF09EF222D3E}" type="pres">
      <dgm:prSet presAssocID="{B701D65C-653D-4FA8-BFE1-533CCF14A45F}" presName="node" presStyleLbl="node1" presStyleIdx="0" presStyleCnt="10">
        <dgm:presLayoutVars>
          <dgm:bulletEnabled val="1"/>
        </dgm:presLayoutVars>
      </dgm:prSet>
      <dgm:spPr/>
    </dgm:pt>
    <dgm:pt modelId="{AF09ECA6-94E8-4D08-BA9E-CE03B442A9CD}" type="pres">
      <dgm:prSet presAssocID="{071EBE43-CA44-4E19-B5A8-0C684F66340E}" presName="sibTrans" presStyleLbl="sibTrans2D1" presStyleIdx="0" presStyleCnt="9"/>
      <dgm:spPr/>
    </dgm:pt>
    <dgm:pt modelId="{54FCE8D5-7F66-40AC-9827-05477628B7D2}" type="pres">
      <dgm:prSet presAssocID="{071EBE43-CA44-4E19-B5A8-0C684F66340E}" presName="connectorText" presStyleLbl="sibTrans2D1" presStyleIdx="0" presStyleCnt="9"/>
      <dgm:spPr/>
    </dgm:pt>
    <dgm:pt modelId="{9B5B0E0E-2E7E-4ADB-B800-747D6003785E}" type="pres">
      <dgm:prSet presAssocID="{FC827CCA-1321-4F42-96BE-A0A66B4D8AF2}" presName="node" presStyleLbl="node1" presStyleIdx="1" presStyleCnt="10">
        <dgm:presLayoutVars>
          <dgm:bulletEnabled val="1"/>
        </dgm:presLayoutVars>
      </dgm:prSet>
      <dgm:spPr/>
    </dgm:pt>
    <dgm:pt modelId="{487C9238-8757-459E-9B0A-83CD3D6F81F3}" type="pres">
      <dgm:prSet presAssocID="{A16671BF-EF2F-4242-80CF-B01DD7CA3133}" presName="sibTrans" presStyleLbl="sibTrans2D1" presStyleIdx="1" presStyleCnt="9"/>
      <dgm:spPr/>
    </dgm:pt>
    <dgm:pt modelId="{C44B167F-9DDD-474C-9744-59C355B491EA}" type="pres">
      <dgm:prSet presAssocID="{A16671BF-EF2F-4242-80CF-B01DD7CA3133}" presName="connectorText" presStyleLbl="sibTrans2D1" presStyleIdx="1" presStyleCnt="9"/>
      <dgm:spPr/>
    </dgm:pt>
    <dgm:pt modelId="{57B258C3-D5BB-4F31-A5F7-6A74DA98CEB3}" type="pres">
      <dgm:prSet presAssocID="{400D217C-D3B1-4B8C-90BD-066E05CBBE2D}" presName="node" presStyleLbl="node1" presStyleIdx="2" presStyleCnt="10">
        <dgm:presLayoutVars>
          <dgm:bulletEnabled val="1"/>
        </dgm:presLayoutVars>
      </dgm:prSet>
      <dgm:spPr/>
    </dgm:pt>
    <dgm:pt modelId="{4499A352-D336-44B8-8328-0E8BFF6A6CCD}" type="pres">
      <dgm:prSet presAssocID="{9D06B2C4-6EDA-4FA3-BB64-FF61AD1D10B9}" presName="sibTrans" presStyleLbl="sibTrans2D1" presStyleIdx="2" presStyleCnt="9"/>
      <dgm:spPr/>
    </dgm:pt>
    <dgm:pt modelId="{E0FCB7DF-1B3E-4AD2-80C7-1C00990118C7}" type="pres">
      <dgm:prSet presAssocID="{9D06B2C4-6EDA-4FA3-BB64-FF61AD1D10B9}" presName="connectorText" presStyleLbl="sibTrans2D1" presStyleIdx="2" presStyleCnt="9"/>
      <dgm:spPr/>
    </dgm:pt>
    <dgm:pt modelId="{E8EC1FA6-C634-4AF6-9507-F6EB37FA7856}" type="pres">
      <dgm:prSet presAssocID="{7B2EFE19-7342-41EC-946D-04C729636CF5}" presName="node" presStyleLbl="node1" presStyleIdx="3" presStyleCnt="10">
        <dgm:presLayoutVars>
          <dgm:bulletEnabled val="1"/>
        </dgm:presLayoutVars>
      </dgm:prSet>
      <dgm:spPr/>
    </dgm:pt>
    <dgm:pt modelId="{7C78B09F-518A-4DEE-B8E4-D4C42EF43BA5}" type="pres">
      <dgm:prSet presAssocID="{60FE26A7-CF8B-4D5B-9C0D-BDCF4B5A1BB3}" presName="sibTrans" presStyleLbl="sibTrans2D1" presStyleIdx="3" presStyleCnt="9"/>
      <dgm:spPr/>
    </dgm:pt>
    <dgm:pt modelId="{7D433015-A832-4E28-B004-60D9AE40783E}" type="pres">
      <dgm:prSet presAssocID="{60FE26A7-CF8B-4D5B-9C0D-BDCF4B5A1BB3}" presName="connectorText" presStyleLbl="sibTrans2D1" presStyleIdx="3" presStyleCnt="9"/>
      <dgm:spPr/>
    </dgm:pt>
    <dgm:pt modelId="{5EC623C1-9538-41E2-A1D9-75BDDBC368F8}" type="pres">
      <dgm:prSet presAssocID="{9354453C-EECA-4896-B87A-7B42DEC5A939}" presName="node" presStyleLbl="node1" presStyleIdx="4" presStyleCnt="10">
        <dgm:presLayoutVars>
          <dgm:bulletEnabled val="1"/>
        </dgm:presLayoutVars>
      </dgm:prSet>
      <dgm:spPr/>
    </dgm:pt>
    <dgm:pt modelId="{8393BA39-F309-435C-864D-3DC51A526C77}" type="pres">
      <dgm:prSet presAssocID="{D413E00B-6781-4A35-92FD-F974E3C8DB7E}" presName="sibTrans" presStyleLbl="sibTrans2D1" presStyleIdx="4" presStyleCnt="9"/>
      <dgm:spPr/>
    </dgm:pt>
    <dgm:pt modelId="{CF39200C-BA08-473F-BBB8-E550B002CAEF}" type="pres">
      <dgm:prSet presAssocID="{D413E00B-6781-4A35-92FD-F974E3C8DB7E}" presName="connectorText" presStyleLbl="sibTrans2D1" presStyleIdx="4" presStyleCnt="9"/>
      <dgm:spPr/>
    </dgm:pt>
    <dgm:pt modelId="{67D5628D-033C-45AD-9F4F-4F6D837FB3F1}" type="pres">
      <dgm:prSet presAssocID="{EE04B85E-ECF1-4E79-A84E-23711B8AD196}" presName="node" presStyleLbl="node1" presStyleIdx="5" presStyleCnt="10">
        <dgm:presLayoutVars>
          <dgm:bulletEnabled val="1"/>
        </dgm:presLayoutVars>
      </dgm:prSet>
      <dgm:spPr/>
    </dgm:pt>
    <dgm:pt modelId="{3F2550A4-9EBA-490C-A198-D67D70B0ACB9}" type="pres">
      <dgm:prSet presAssocID="{74810761-5812-4365-8F45-3C23F08F0EEC}" presName="sibTrans" presStyleLbl="sibTrans2D1" presStyleIdx="5" presStyleCnt="9"/>
      <dgm:spPr/>
    </dgm:pt>
    <dgm:pt modelId="{06A2E9A1-D349-4AE0-94F2-516CAC4AC854}" type="pres">
      <dgm:prSet presAssocID="{74810761-5812-4365-8F45-3C23F08F0EEC}" presName="connectorText" presStyleLbl="sibTrans2D1" presStyleIdx="5" presStyleCnt="9"/>
      <dgm:spPr/>
    </dgm:pt>
    <dgm:pt modelId="{4560D2E7-F179-44A0-9A2A-36E5ACADB6E1}" type="pres">
      <dgm:prSet presAssocID="{0B65ACA0-6DB1-4A7E-B78D-0F379759A2C4}" presName="node" presStyleLbl="node1" presStyleIdx="6" presStyleCnt="10">
        <dgm:presLayoutVars>
          <dgm:bulletEnabled val="1"/>
        </dgm:presLayoutVars>
      </dgm:prSet>
      <dgm:spPr/>
    </dgm:pt>
    <dgm:pt modelId="{CB30365D-44B7-403D-B415-4376CD71A463}" type="pres">
      <dgm:prSet presAssocID="{CDD32BEA-BA90-447E-B4FD-57B4213F0B89}" presName="sibTrans" presStyleLbl="sibTrans2D1" presStyleIdx="6" presStyleCnt="9"/>
      <dgm:spPr/>
    </dgm:pt>
    <dgm:pt modelId="{B16BA772-B6C1-4029-8448-A44A7C21F9C1}" type="pres">
      <dgm:prSet presAssocID="{CDD32BEA-BA90-447E-B4FD-57B4213F0B89}" presName="connectorText" presStyleLbl="sibTrans2D1" presStyleIdx="6" presStyleCnt="9"/>
      <dgm:spPr/>
    </dgm:pt>
    <dgm:pt modelId="{DC2035F6-F77E-47A0-AE42-D08267BD15A4}" type="pres">
      <dgm:prSet presAssocID="{5ACDB87B-FE5C-4707-8366-1AB12B89F7FD}" presName="node" presStyleLbl="node1" presStyleIdx="7" presStyleCnt="10">
        <dgm:presLayoutVars>
          <dgm:bulletEnabled val="1"/>
        </dgm:presLayoutVars>
      </dgm:prSet>
      <dgm:spPr/>
    </dgm:pt>
    <dgm:pt modelId="{E05923CC-D283-48ED-A665-DA1D23023DD0}" type="pres">
      <dgm:prSet presAssocID="{C1A133F3-D849-4F10-BA08-6250AABCF2E8}" presName="sibTrans" presStyleLbl="sibTrans2D1" presStyleIdx="7" presStyleCnt="9"/>
      <dgm:spPr/>
    </dgm:pt>
    <dgm:pt modelId="{CBC15A6B-4FE7-451F-8B2C-3DB06DBE6B80}" type="pres">
      <dgm:prSet presAssocID="{C1A133F3-D849-4F10-BA08-6250AABCF2E8}" presName="connectorText" presStyleLbl="sibTrans2D1" presStyleIdx="7" presStyleCnt="9"/>
      <dgm:spPr/>
    </dgm:pt>
    <dgm:pt modelId="{E8433F6C-38C9-4D0A-AC2C-6D21ED0D337F}" type="pres">
      <dgm:prSet presAssocID="{CE964E7D-A195-49A1-95C8-AE8BBB5A8869}" presName="node" presStyleLbl="node1" presStyleIdx="8" presStyleCnt="10">
        <dgm:presLayoutVars>
          <dgm:bulletEnabled val="1"/>
        </dgm:presLayoutVars>
      </dgm:prSet>
      <dgm:spPr/>
    </dgm:pt>
    <dgm:pt modelId="{56840F36-C839-459B-9A2A-7317C139B591}" type="pres">
      <dgm:prSet presAssocID="{6EA53DDB-339E-49EA-BA3C-46330A55F537}" presName="sibTrans" presStyleLbl="sibTrans2D1" presStyleIdx="8" presStyleCnt="9"/>
      <dgm:spPr/>
    </dgm:pt>
    <dgm:pt modelId="{F56F75D5-7D66-49BB-B161-19A32E4782A8}" type="pres">
      <dgm:prSet presAssocID="{6EA53DDB-339E-49EA-BA3C-46330A55F537}" presName="connectorText" presStyleLbl="sibTrans2D1" presStyleIdx="8" presStyleCnt="9"/>
      <dgm:spPr/>
    </dgm:pt>
    <dgm:pt modelId="{3AD7AD2E-EEB9-4C2E-8598-0B08A03620CE}" type="pres">
      <dgm:prSet presAssocID="{90331F61-9AA5-4129-8D61-97E3C69B0EA9}" presName="node" presStyleLbl="node1" presStyleIdx="9" presStyleCnt="10">
        <dgm:presLayoutVars>
          <dgm:bulletEnabled val="1"/>
        </dgm:presLayoutVars>
      </dgm:prSet>
      <dgm:spPr/>
    </dgm:pt>
  </dgm:ptLst>
  <dgm:cxnLst>
    <dgm:cxn modelId="{F1424C13-A936-46C3-9CB7-ACCF462130F8}" type="presOf" srcId="{C1A133F3-D849-4F10-BA08-6250AABCF2E8}" destId="{CBC15A6B-4FE7-451F-8B2C-3DB06DBE6B80}" srcOrd="1" destOrd="0" presId="urn:microsoft.com/office/officeart/2005/8/layout/process5"/>
    <dgm:cxn modelId="{B7C8DA19-C302-4B59-BA97-7B544ACCC3B8}" type="presOf" srcId="{74810761-5812-4365-8F45-3C23F08F0EEC}" destId="{3F2550A4-9EBA-490C-A198-D67D70B0ACB9}" srcOrd="0" destOrd="0" presId="urn:microsoft.com/office/officeart/2005/8/layout/process5"/>
    <dgm:cxn modelId="{C59FD41B-70E1-4730-8899-8664BA936681}" type="presOf" srcId="{071EBE43-CA44-4E19-B5A8-0C684F66340E}" destId="{54FCE8D5-7F66-40AC-9827-05477628B7D2}" srcOrd="1" destOrd="0" presId="urn:microsoft.com/office/officeart/2005/8/layout/process5"/>
    <dgm:cxn modelId="{12F73B24-F416-4D17-AD7D-8222E14378D3}" type="presOf" srcId="{9D06B2C4-6EDA-4FA3-BB64-FF61AD1D10B9}" destId="{E0FCB7DF-1B3E-4AD2-80C7-1C00990118C7}" srcOrd="1" destOrd="0" presId="urn:microsoft.com/office/officeart/2005/8/layout/process5"/>
    <dgm:cxn modelId="{04030E25-B58B-4942-BE17-D3210D965CC9}" type="presOf" srcId="{7B2EFE19-7342-41EC-946D-04C729636CF5}" destId="{E8EC1FA6-C634-4AF6-9507-F6EB37FA7856}" srcOrd="0" destOrd="0" presId="urn:microsoft.com/office/officeart/2005/8/layout/process5"/>
    <dgm:cxn modelId="{39165127-25C7-4116-A902-6CAFD2EE7A56}" srcId="{06AC199C-BBCC-4683-8384-2464DB01091B}" destId="{0B65ACA0-6DB1-4A7E-B78D-0F379759A2C4}" srcOrd="6" destOrd="0" parTransId="{531CB939-7831-4677-A643-6138432475C9}" sibTransId="{CDD32BEA-BA90-447E-B4FD-57B4213F0B89}"/>
    <dgm:cxn modelId="{61DC8731-7E3A-443E-8F57-689F24897253}" srcId="{06AC199C-BBCC-4683-8384-2464DB01091B}" destId="{EE04B85E-ECF1-4E79-A84E-23711B8AD196}" srcOrd="5" destOrd="0" parTransId="{BAE07F69-A899-4411-9855-3B39D3EC6144}" sibTransId="{74810761-5812-4365-8F45-3C23F08F0EEC}"/>
    <dgm:cxn modelId="{83FCF231-BAD2-4AB7-B08F-97D535F6A9E6}" type="presOf" srcId="{74810761-5812-4365-8F45-3C23F08F0EEC}" destId="{06A2E9A1-D349-4AE0-94F2-516CAC4AC854}" srcOrd="1" destOrd="0" presId="urn:microsoft.com/office/officeart/2005/8/layout/process5"/>
    <dgm:cxn modelId="{38B82039-975E-4413-B67D-D1E4CE3E079C}" type="presOf" srcId="{6EA53DDB-339E-49EA-BA3C-46330A55F537}" destId="{56840F36-C839-459B-9A2A-7317C139B591}" srcOrd="0" destOrd="0" presId="urn:microsoft.com/office/officeart/2005/8/layout/process5"/>
    <dgm:cxn modelId="{A0CE305E-765C-4077-9452-C4F8154C6457}" type="presOf" srcId="{CDD32BEA-BA90-447E-B4FD-57B4213F0B89}" destId="{B16BA772-B6C1-4029-8448-A44A7C21F9C1}" srcOrd="1" destOrd="0" presId="urn:microsoft.com/office/officeart/2005/8/layout/process5"/>
    <dgm:cxn modelId="{3A2AD564-7DE4-4B3D-B8A7-ED102E01DBF2}" type="presOf" srcId="{D413E00B-6781-4A35-92FD-F974E3C8DB7E}" destId="{8393BA39-F309-435C-864D-3DC51A526C77}" srcOrd="0" destOrd="0" presId="urn:microsoft.com/office/officeart/2005/8/layout/process5"/>
    <dgm:cxn modelId="{74E6E764-C6F3-43E9-AADB-771F8C6A50F9}" srcId="{06AC199C-BBCC-4683-8384-2464DB01091B}" destId="{90331F61-9AA5-4129-8D61-97E3C69B0EA9}" srcOrd="9" destOrd="0" parTransId="{394BB7D8-A24C-4574-9764-D3123CA86953}" sibTransId="{3D0E9A98-1C5B-415C-9D5D-752FA7917DEA}"/>
    <dgm:cxn modelId="{3BDDB065-5D38-406C-85E7-BD7927D18792}" srcId="{06AC199C-BBCC-4683-8384-2464DB01091B}" destId="{CE964E7D-A195-49A1-95C8-AE8BBB5A8869}" srcOrd="8" destOrd="0" parTransId="{2C059774-D42C-440A-85EA-A411EB3CCD70}" sibTransId="{6EA53DDB-339E-49EA-BA3C-46330A55F537}"/>
    <dgm:cxn modelId="{E1B2B768-F3CD-482B-A2D2-66F327D86D57}" type="presOf" srcId="{9354453C-EECA-4896-B87A-7B42DEC5A939}" destId="{5EC623C1-9538-41E2-A1D9-75BDDBC368F8}" srcOrd="0" destOrd="0" presId="urn:microsoft.com/office/officeart/2005/8/layout/process5"/>
    <dgm:cxn modelId="{52381C4E-0DC5-4E3D-A0D7-0DCA851AEFE3}" type="presOf" srcId="{60FE26A7-CF8B-4D5B-9C0D-BDCF4B5A1BB3}" destId="{7D433015-A832-4E28-B004-60D9AE40783E}" srcOrd="1" destOrd="0" presId="urn:microsoft.com/office/officeart/2005/8/layout/process5"/>
    <dgm:cxn modelId="{5E232954-0CA9-4E6F-9CEB-976AEB3A549D}" type="presOf" srcId="{5ACDB87B-FE5C-4707-8366-1AB12B89F7FD}" destId="{DC2035F6-F77E-47A0-AE42-D08267BD15A4}" srcOrd="0" destOrd="0" presId="urn:microsoft.com/office/officeart/2005/8/layout/process5"/>
    <dgm:cxn modelId="{A7F37A58-7954-4657-B3F7-1A54320C36D6}" srcId="{06AC199C-BBCC-4683-8384-2464DB01091B}" destId="{7B2EFE19-7342-41EC-946D-04C729636CF5}" srcOrd="3" destOrd="0" parTransId="{EC135383-A8D2-4B47-A48F-7B930AE2B81F}" sibTransId="{60FE26A7-CF8B-4D5B-9C0D-BDCF4B5A1BB3}"/>
    <dgm:cxn modelId="{F9F5487F-856C-457B-A7C2-04BB1AB32CE1}" srcId="{06AC199C-BBCC-4683-8384-2464DB01091B}" destId="{FC827CCA-1321-4F42-96BE-A0A66B4D8AF2}" srcOrd="1" destOrd="0" parTransId="{1931C91E-B906-4C70-AE67-213C7A5E8BDA}" sibTransId="{A16671BF-EF2F-4242-80CF-B01DD7CA3133}"/>
    <dgm:cxn modelId="{D97D5381-0E31-4482-9F9D-4BCB456FB04F}" type="presOf" srcId="{CDD32BEA-BA90-447E-B4FD-57B4213F0B89}" destId="{CB30365D-44B7-403D-B415-4376CD71A463}" srcOrd="0" destOrd="0" presId="urn:microsoft.com/office/officeart/2005/8/layout/process5"/>
    <dgm:cxn modelId="{F8A09586-B87F-4A02-A438-9AB20EFF932F}" type="presOf" srcId="{C1A133F3-D849-4F10-BA08-6250AABCF2E8}" destId="{E05923CC-D283-48ED-A665-DA1D23023DD0}" srcOrd="0" destOrd="0" presId="urn:microsoft.com/office/officeart/2005/8/layout/process5"/>
    <dgm:cxn modelId="{81F61D90-FFF0-4E19-BC7C-42E64A88C1D1}" type="presOf" srcId="{CE964E7D-A195-49A1-95C8-AE8BBB5A8869}" destId="{E8433F6C-38C9-4D0A-AC2C-6D21ED0D337F}" srcOrd="0" destOrd="0" presId="urn:microsoft.com/office/officeart/2005/8/layout/process5"/>
    <dgm:cxn modelId="{C7EB3294-7AC7-43A0-8490-52C012CE11A4}" type="presOf" srcId="{9D06B2C4-6EDA-4FA3-BB64-FF61AD1D10B9}" destId="{4499A352-D336-44B8-8328-0E8BFF6A6CCD}" srcOrd="0" destOrd="0" presId="urn:microsoft.com/office/officeart/2005/8/layout/process5"/>
    <dgm:cxn modelId="{CA6CD6A4-BB1D-4927-BDCE-AD7303A83D41}" type="presOf" srcId="{B701D65C-653D-4FA8-BFE1-533CCF14A45F}" destId="{7A560EA8-B44E-46E4-BC51-CF09EF222D3E}" srcOrd="0" destOrd="0" presId="urn:microsoft.com/office/officeart/2005/8/layout/process5"/>
    <dgm:cxn modelId="{B07E97A7-5A25-4DBE-8BBF-E94794548EAB}" type="presOf" srcId="{06AC199C-BBCC-4683-8384-2464DB01091B}" destId="{FEEEA230-F5AA-4E91-A45B-5E433F3D58AE}" srcOrd="0" destOrd="0" presId="urn:microsoft.com/office/officeart/2005/8/layout/process5"/>
    <dgm:cxn modelId="{7DB01FAA-370A-43F0-9411-02F2C9E8A658}" srcId="{06AC199C-BBCC-4683-8384-2464DB01091B}" destId="{B701D65C-653D-4FA8-BFE1-533CCF14A45F}" srcOrd="0" destOrd="0" parTransId="{CCA5A5AD-61A5-4F10-85E7-12A7FA3AE69E}" sibTransId="{071EBE43-CA44-4E19-B5A8-0C684F66340E}"/>
    <dgm:cxn modelId="{C61143B1-5A41-46DB-AF7D-8867BB5B198F}" srcId="{06AC199C-BBCC-4683-8384-2464DB01091B}" destId="{400D217C-D3B1-4B8C-90BD-066E05CBBE2D}" srcOrd="2" destOrd="0" parTransId="{E9BB42BC-0C3A-46B0-8D8C-3F84E631E8A1}" sibTransId="{9D06B2C4-6EDA-4FA3-BB64-FF61AD1D10B9}"/>
    <dgm:cxn modelId="{D5C2A4B3-F5B7-4CA8-B5B9-CB3CBB926483}" type="presOf" srcId="{D413E00B-6781-4A35-92FD-F974E3C8DB7E}" destId="{CF39200C-BA08-473F-BBB8-E550B002CAEF}" srcOrd="1" destOrd="0" presId="urn:microsoft.com/office/officeart/2005/8/layout/process5"/>
    <dgm:cxn modelId="{82BAC7B4-EEC0-411E-99DF-EA4493A03B32}" type="presOf" srcId="{EE04B85E-ECF1-4E79-A84E-23711B8AD196}" destId="{67D5628D-033C-45AD-9F4F-4F6D837FB3F1}" srcOrd="0" destOrd="0" presId="urn:microsoft.com/office/officeart/2005/8/layout/process5"/>
    <dgm:cxn modelId="{7AD9F8B5-11B4-4FAF-B447-D8EA7F545252}" type="presOf" srcId="{071EBE43-CA44-4E19-B5A8-0C684F66340E}" destId="{AF09ECA6-94E8-4D08-BA9E-CE03B442A9CD}" srcOrd="0" destOrd="0" presId="urn:microsoft.com/office/officeart/2005/8/layout/process5"/>
    <dgm:cxn modelId="{C3D71BC8-473A-44E4-B5FB-CA552D321D22}" type="presOf" srcId="{90331F61-9AA5-4129-8D61-97E3C69B0EA9}" destId="{3AD7AD2E-EEB9-4C2E-8598-0B08A03620CE}" srcOrd="0" destOrd="0" presId="urn:microsoft.com/office/officeart/2005/8/layout/process5"/>
    <dgm:cxn modelId="{362F8AC9-FBE9-4DF8-82DB-98A6D64E0515}" type="presOf" srcId="{60FE26A7-CF8B-4D5B-9C0D-BDCF4B5A1BB3}" destId="{7C78B09F-518A-4DEE-B8E4-D4C42EF43BA5}" srcOrd="0" destOrd="0" presId="urn:microsoft.com/office/officeart/2005/8/layout/process5"/>
    <dgm:cxn modelId="{553DFDCC-F668-4F05-B9EA-6455D011720A}" type="presOf" srcId="{0B65ACA0-6DB1-4A7E-B78D-0F379759A2C4}" destId="{4560D2E7-F179-44A0-9A2A-36E5ACADB6E1}" srcOrd="0" destOrd="0" presId="urn:microsoft.com/office/officeart/2005/8/layout/process5"/>
    <dgm:cxn modelId="{EB7547D1-C78D-44C6-8F17-5F75611E243F}" srcId="{06AC199C-BBCC-4683-8384-2464DB01091B}" destId="{5ACDB87B-FE5C-4707-8366-1AB12B89F7FD}" srcOrd="7" destOrd="0" parTransId="{E0BAB188-5F31-4BCB-9998-8613AD767B0F}" sibTransId="{C1A133F3-D849-4F10-BA08-6250AABCF2E8}"/>
    <dgm:cxn modelId="{973A08D6-382F-48F5-A86E-BEA88EE9CF24}" type="presOf" srcId="{A16671BF-EF2F-4242-80CF-B01DD7CA3133}" destId="{487C9238-8757-459E-9B0A-83CD3D6F81F3}" srcOrd="0" destOrd="0" presId="urn:microsoft.com/office/officeart/2005/8/layout/process5"/>
    <dgm:cxn modelId="{189BA2E6-A924-4CBE-84C6-4ED5D9FE49AA}" type="presOf" srcId="{A16671BF-EF2F-4242-80CF-B01DD7CA3133}" destId="{C44B167F-9DDD-474C-9744-59C355B491EA}" srcOrd="1" destOrd="0" presId="urn:microsoft.com/office/officeart/2005/8/layout/process5"/>
    <dgm:cxn modelId="{63FE85F4-FA55-4451-A0C6-C646F8CC340C}" type="presOf" srcId="{6EA53DDB-339E-49EA-BA3C-46330A55F537}" destId="{F56F75D5-7D66-49BB-B161-19A32E4782A8}" srcOrd="1" destOrd="0" presId="urn:microsoft.com/office/officeart/2005/8/layout/process5"/>
    <dgm:cxn modelId="{B0436CF9-025B-4A8E-8C70-682B8B918BE4}" type="presOf" srcId="{FC827CCA-1321-4F42-96BE-A0A66B4D8AF2}" destId="{9B5B0E0E-2E7E-4ADB-B800-747D6003785E}" srcOrd="0" destOrd="0" presId="urn:microsoft.com/office/officeart/2005/8/layout/process5"/>
    <dgm:cxn modelId="{62C8A9FD-9CAF-48CD-BB3F-A59E41BDAB8B}" srcId="{06AC199C-BBCC-4683-8384-2464DB01091B}" destId="{9354453C-EECA-4896-B87A-7B42DEC5A939}" srcOrd="4" destOrd="0" parTransId="{C92C928C-FB47-43CC-BAC2-8878B5B81BB6}" sibTransId="{D413E00B-6781-4A35-92FD-F974E3C8DB7E}"/>
    <dgm:cxn modelId="{9CE9EDFD-D705-47C4-A8B4-CB15E879ED54}" type="presOf" srcId="{400D217C-D3B1-4B8C-90BD-066E05CBBE2D}" destId="{57B258C3-D5BB-4F31-A5F7-6A74DA98CEB3}" srcOrd="0" destOrd="0" presId="urn:microsoft.com/office/officeart/2005/8/layout/process5"/>
    <dgm:cxn modelId="{27CB1522-ABF8-4B62-AC70-33A3A925D696}" type="presParOf" srcId="{FEEEA230-F5AA-4E91-A45B-5E433F3D58AE}" destId="{7A560EA8-B44E-46E4-BC51-CF09EF222D3E}" srcOrd="0" destOrd="0" presId="urn:microsoft.com/office/officeart/2005/8/layout/process5"/>
    <dgm:cxn modelId="{454FB444-6B06-4F19-B36F-3C822C71D0CA}" type="presParOf" srcId="{FEEEA230-F5AA-4E91-A45B-5E433F3D58AE}" destId="{AF09ECA6-94E8-4D08-BA9E-CE03B442A9CD}" srcOrd="1" destOrd="0" presId="urn:microsoft.com/office/officeart/2005/8/layout/process5"/>
    <dgm:cxn modelId="{5B99CE3B-550D-4B0A-915F-81EA0A71AB35}" type="presParOf" srcId="{AF09ECA6-94E8-4D08-BA9E-CE03B442A9CD}" destId="{54FCE8D5-7F66-40AC-9827-05477628B7D2}" srcOrd="0" destOrd="0" presId="urn:microsoft.com/office/officeart/2005/8/layout/process5"/>
    <dgm:cxn modelId="{77AB3A06-9A97-4DC2-BBC9-0654A63B7019}" type="presParOf" srcId="{FEEEA230-F5AA-4E91-A45B-5E433F3D58AE}" destId="{9B5B0E0E-2E7E-4ADB-B800-747D6003785E}" srcOrd="2" destOrd="0" presId="urn:microsoft.com/office/officeart/2005/8/layout/process5"/>
    <dgm:cxn modelId="{42B01E05-0285-4E38-877D-A3B6D943F8B7}" type="presParOf" srcId="{FEEEA230-F5AA-4E91-A45B-5E433F3D58AE}" destId="{487C9238-8757-459E-9B0A-83CD3D6F81F3}" srcOrd="3" destOrd="0" presId="urn:microsoft.com/office/officeart/2005/8/layout/process5"/>
    <dgm:cxn modelId="{8989C204-E070-4353-BD3F-E90474CD4719}" type="presParOf" srcId="{487C9238-8757-459E-9B0A-83CD3D6F81F3}" destId="{C44B167F-9DDD-474C-9744-59C355B491EA}" srcOrd="0" destOrd="0" presId="urn:microsoft.com/office/officeart/2005/8/layout/process5"/>
    <dgm:cxn modelId="{3940C200-D362-485C-A999-13DFE8B0D732}" type="presParOf" srcId="{FEEEA230-F5AA-4E91-A45B-5E433F3D58AE}" destId="{57B258C3-D5BB-4F31-A5F7-6A74DA98CEB3}" srcOrd="4" destOrd="0" presId="urn:microsoft.com/office/officeart/2005/8/layout/process5"/>
    <dgm:cxn modelId="{5E10624A-A369-4619-8587-D232F3C9C2D0}" type="presParOf" srcId="{FEEEA230-F5AA-4E91-A45B-5E433F3D58AE}" destId="{4499A352-D336-44B8-8328-0E8BFF6A6CCD}" srcOrd="5" destOrd="0" presId="urn:microsoft.com/office/officeart/2005/8/layout/process5"/>
    <dgm:cxn modelId="{6D4B2345-1F4E-4EE5-95A2-9BE6092F6209}" type="presParOf" srcId="{4499A352-D336-44B8-8328-0E8BFF6A6CCD}" destId="{E0FCB7DF-1B3E-4AD2-80C7-1C00990118C7}" srcOrd="0" destOrd="0" presId="urn:microsoft.com/office/officeart/2005/8/layout/process5"/>
    <dgm:cxn modelId="{B9E3D8C9-17B8-4722-979B-D4A7E1192727}" type="presParOf" srcId="{FEEEA230-F5AA-4E91-A45B-5E433F3D58AE}" destId="{E8EC1FA6-C634-4AF6-9507-F6EB37FA7856}" srcOrd="6" destOrd="0" presId="urn:microsoft.com/office/officeart/2005/8/layout/process5"/>
    <dgm:cxn modelId="{F1CFC91F-FC39-4E02-BBFE-48A24CCBC386}" type="presParOf" srcId="{FEEEA230-F5AA-4E91-A45B-5E433F3D58AE}" destId="{7C78B09F-518A-4DEE-B8E4-D4C42EF43BA5}" srcOrd="7" destOrd="0" presId="urn:microsoft.com/office/officeart/2005/8/layout/process5"/>
    <dgm:cxn modelId="{43DF1753-A8A2-4FFB-BE39-23B94413C626}" type="presParOf" srcId="{7C78B09F-518A-4DEE-B8E4-D4C42EF43BA5}" destId="{7D433015-A832-4E28-B004-60D9AE40783E}" srcOrd="0" destOrd="0" presId="urn:microsoft.com/office/officeart/2005/8/layout/process5"/>
    <dgm:cxn modelId="{1FF42280-03B3-4B12-B999-743FABF0D520}" type="presParOf" srcId="{FEEEA230-F5AA-4E91-A45B-5E433F3D58AE}" destId="{5EC623C1-9538-41E2-A1D9-75BDDBC368F8}" srcOrd="8" destOrd="0" presId="urn:microsoft.com/office/officeart/2005/8/layout/process5"/>
    <dgm:cxn modelId="{530A268F-000B-4A9F-957B-7FE1FEAE45FC}" type="presParOf" srcId="{FEEEA230-F5AA-4E91-A45B-5E433F3D58AE}" destId="{8393BA39-F309-435C-864D-3DC51A526C77}" srcOrd="9" destOrd="0" presId="urn:microsoft.com/office/officeart/2005/8/layout/process5"/>
    <dgm:cxn modelId="{23F5E59D-EF53-4EF6-B75B-EBDEB501D57F}" type="presParOf" srcId="{8393BA39-F309-435C-864D-3DC51A526C77}" destId="{CF39200C-BA08-473F-BBB8-E550B002CAEF}" srcOrd="0" destOrd="0" presId="urn:microsoft.com/office/officeart/2005/8/layout/process5"/>
    <dgm:cxn modelId="{01651BE4-205D-41B4-BC2C-1DF43ED9FCDE}" type="presParOf" srcId="{FEEEA230-F5AA-4E91-A45B-5E433F3D58AE}" destId="{67D5628D-033C-45AD-9F4F-4F6D837FB3F1}" srcOrd="10" destOrd="0" presId="urn:microsoft.com/office/officeart/2005/8/layout/process5"/>
    <dgm:cxn modelId="{B215A72C-D330-4261-BA7D-2BD309014137}" type="presParOf" srcId="{FEEEA230-F5AA-4E91-A45B-5E433F3D58AE}" destId="{3F2550A4-9EBA-490C-A198-D67D70B0ACB9}" srcOrd="11" destOrd="0" presId="urn:microsoft.com/office/officeart/2005/8/layout/process5"/>
    <dgm:cxn modelId="{94F907F2-1141-4D91-9A0D-B1AFA40FFC6C}" type="presParOf" srcId="{3F2550A4-9EBA-490C-A198-D67D70B0ACB9}" destId="{06A2E9A1-D349-4AE0-94F2-516CAC4AC854}" srcOrd="0" destOrd="0" presId="urn:microsoft.com/office/officeart/2005/8/layout/process5"/>
    <dgm:cxn modelId="{54EB3848-161A-4CC0-85EF-D1B3C6278B70}" type="presParOf" srcId="{FEEEA230-F5AA-4E91-A45B-5E433F3D58AE}" destId="{4560D2E7-F179-44A0-9A2A-36E5ACADB6E1}" srcOrd="12" destOrd="0" presId="urn:microsoft.com/office/officeart/2005/8/layout/process5"/>
    <dgm:cxn modelId="{5C977850-A8FF-4A85-AAE7-721C7737B087}" type="presParOf" srcId="{FEEEA230-F5AA-4E91-A45B-5E433F3D58AE}" destId="{CB30365D-44B7-403D-B415-4376CD71A463}" srcOrd="13" destOrd="0" presId="urn:microsoft.com/office/officeart/2005/8/layout/process5"/>
    <dgm:cxn modelId="{7ED008A3-B0B3-4BEF-A774-8955A2A72652}" type="presParOf" srcId="{CB30365D-44B7-403D-B415-4376CD71A463}" destId="{B16BA772-B6C1-4029-8448-A44A7C21F9C1}" srcOrd="0" destOrd="0" presId="urn:microsoft.com/office/officeart/2005/8/layout/process5"/>
    <dgm:cxn modelId="{A4B4866A-910E-42CA-8B27-DF40029EC633}" type="presParOf" srcId="{FEEEA230-F5AA-4E91-A45B-5E433F3D58AE}" destId="{DC2035F6-F77E-47A0-AE42-D08267BD15A4}" srcOrd="14" destOrd="0" presId="urn:microsoft.com/office/officeart/2005/8/layout/process5"/>
    <dgm:cxn modelId="{7704E276-87F9-46B0-A82F-654C5921DAF2}" type="presParOf" srcId="{FEEEA230-F5AA-4E91-A45B-5E433F3D58AE}" destId="{E05923CC-D283-48ED-A665-DA1D23023DD0}" srcOrd="15" destOrd="0" presId="urn:microsoft.com/office/officeart/2005/8/layout/process5"/>
    <dgm:cxn modelId="{9D23D1B5-3083-4105-9C95-A5E70FC50D87}" type="presParOf" srcId="{E05923CC-D283-48ED-A665-DA1D23023DD0}" destId="{CBC15A6B-4FE7-451F-8B2C-3DB06DBE6B80}" srcOrd="0" destOrd="0" presId="urn:microsoft.com/office/officeart/2005/8/layout/process5"/>
    <dgm:cxn modelId="{B68BCDBF-0C89-40D2-BAD4-1155A2D396E4}" type="presParOf" srcId="{FEEEA230-F5AA-4E91-A45B-5E433F3D58AE}" destId="{E8433F6C-38C9-4D0A-AC2C-6D21ED0D337F}" srcOrd="16" destOrd="0" presId="urn:microsoft.com/office/officeart/2005/8/layout/process5"/>
    <dgm:cxn modelId="{9AC0FEC1-8FD6-4439-9245-5C0972CC8AB4}" type="presParOf" srcId="{FEEEA230-F5AA-4E91-A45B-5E433F3D58AE}" destId="{56840F36-C839-459B-9A2A-7317C139B591}" srcOrd="17" destOrd="0" presId="urn:microsoft.com/office/officeart/2005/8/layout/process5"/>
    <dgm:cxn modelId="{123C834B-96B4-44AA-ABB6-86FDED69D983}" type="presParOf" srcId="{56840F36-C839-459B-9A2A-7317C139B591}" destId="{F56F75D5-7D66-49BB-B161-19A32E4782A8}" srcOrd="0" destOrd="0" presId="urn:microsoft.com/office/officeart/2005/8/layout/process5"/>
    <dgm:cxn modelId="{E1414057-205C-42C2-BE98-72DF278E559E}" type="presParOf" srcId="{FEEEA230-F5AA-4E91-A45B-5E433F3D58AE}" destId="{3AD7AD2E-EEB9-4C2E-8598-0B08A03620CE}" srcOrd="18"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60EA8-B44E-46E4-BC51-CF09EF222D3E}">
      <dsp:nvSpPr>
        <dsp:cNvPr id="0" name=""/>
        <dsp:cNvSpPr/>
      </dsp:nvSpPr>
      <dsp:spPr>
        <a:xfrm>
          <a:off x="5220" y="575363"/>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TW" sz="1200" kern="1200" dirty="0"/>
            <a:t>計算出相似度排序後</a:t>
          </a:r>
          <a:endParaRPr lang="en-US" sz="1200" kern="1200" dirty="0"/>
        </a:p>
      </dsp:txBody>
      <dsp:txXfrm>
        <a:off x="33661" y="603804"/>
        <a:ext cx="1561507" cy="914151"/>
      </dsp:txXfrm>
    </dsp:sp>
    <dsp:sp modelId="{AF09ECA6-94E8-4D08-BA9E-CE03B442A9CD}">
      <dsp:nvSpPr>
        <dsp:cNvPr id="0" name=""/>
        <dsp:cNvSpPr/>
      </dsp:nvSpPr>
      <dsp:spPr>
        <a:xfrm>
          <a:off x="1766028" y="86019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766028" y="940471"/>
        <a:ext cx="240169" cy="240816"/>
      </dsp:txXfrm>
    </dsp:sp>
    <dsp:sp modelId="{9B5B0E0E-2E7E-4ADB-B800-747D6003785E}">
      <dsp:nvSpPr>
        <dsp:cNvPr id="0" name=""/>
        <dsp:cNvSpPr/>
      </dsp:nvSpPr>
      <dsp:spPr>
        <a:xfrm>
          <a:off x="2270965" y="575363"/>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TW" sz="1200" kern="1200"/>
            <a:t>用</a:t>
          </a:r>
          <a:r>
            <a:rPr lang="en-US" sz="1200" kern="1200"/>
            <a:t>Round-Robin</a:t>
          </a:r>
          <a:r>
            <a:rPr lang="zh-TW" sz="1200" kern="1200"/>
            <a:t>的排法排到</a:t>
          </a:r>
          <a:r>
            <a:rPr lang="en-US" sz="1200" kern="1200"/>
            <a:t>10</a:t>
          </a:r>
          <a:r>
            <a:rPr lang="zh-TW" sz="1200" kern="1200"/>
            <a:t>份</a:t>
          </a:r>
          <a:endParaRPr lang="en-US" sz="1200" kern="1200"/>
        </a:p>
      </dsp:txBody>
      <dsp:txXfrm>
        <a:off x="2299406" y="603804"/>
        <a:ext cx="1561507" cy="914151"/>
      </dsp:txXfrm>
    </dsp:sp>
    <dsp:sp modelId="{487C9238-8757-459E-9B0A-83CD3D6F81F3}">
      <dsp:nvSpPr>
        <dsp:cNvPr id="0" name=""/>
        <dsp:cNvSpPr/>
      </dsp:nvSpPr>
      <dsp:spPr>
        <a:xfrm>
          <a:off x="4031773" y="86019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4031773" y="940471"/>
        <a:ext cx="240169" cy="240816"/>
      </dsp:txXfrm>
    </dsp:sp>
    <dsp:sp modelId="{57B258C3-D5BB-4F31-A5F7-6A74DA98CEB3}">
      <dsp:nvSpPr>
        <dsp:cNvPr id="0" name=""/>
        <dsp:cNvSpPr/>
      </dsp:nvSpPr>
      <dsp:spPr>
        <a:xfrm>
          <a:off x="4536711" y="575363"/>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TW" sz="1200" kern="1200"/>
            <a:t>根據排序先取相似度最高的第一組</a:t>
          </a:r>
          <a:endParaRPr lang="en-US" sz="1200" kern="1200"/>
        </a:p>
      </dsp:txBody>
      <dsp:txXfrm>
        <a:off x="4565152" y="603804"/>
        <a:ext cx="1561507" cy="914151"/>
      </dsp:txXfrm>
    </dsp:sp>
    <dsp:sp modelId="{4499A352-D336-44B8-8328-0E8BFF6A6CCD}">
      <dsp:nvSpPr>
        <dsp:cNvPr id="0" name=""/>
        <dsp:cNvSpPr/>
      </dsp:nvSpPr>
      <dsp:spPr>
        <a:xfrm>
          <a:off x="6297519" y="86019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6297519" y="940471"/>
        <a:ext cx="240169" cy="240816"/>
      </dsp:txXfrm>
    </dsp:sp>
    <dsp:sp modelId="{E8EC1FA6-C634-4AF6-9507-F6EB37FA7856}">
      <dsp:nvSpPr>
        <dsp:cNvPr id="0" name=""/>
        <dsp:cNvSpPr/>
      </dsp:nvSpPr>
      <dsp:spPr>
        <a:xfrm>
          <a:off x="6802456" y="575363"/>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a:t>
          </a:r>
          <a:r>
            <a:rPr lang="zh-TW" sz="1200" kern="1200"/>
            <a:t>把第一組的第一句先排入到第</a:t>
          </a:r>
          <a:r>
            <a:rPr lang="en-US" sz="1200" kern="1200"/>
            <a:t>1</a:t>
          </a:r>
          <a:r>
            <a:rPr lang="zh-TW" sz="1200" kern="1200"/>
            <a:t>份，且已排入的句子就在相似度排序中去除</a:t>
          </a:r>
          <a:endParaRPr lang="en-US" sz="1200" kern="1200"/>
        </a:p>
      </dsp:txBody>
      <dsp:txXfrm>
        <a:off x="6830897" y="603804"/>
        <a:ext cx="1561507" cy="914151"/>
      </dsp:txXfrm>
    </dsp:sp>
    <dsp:sp modelId="{7C78B09F-518A-4DEE-B8E4-D4C42EF43BA5}">
      <dsp:nvSpPr>
        <dsp:cNvPr id="0" name=""/>
        <dsp:cNvSpPr/>
      </dsp:nvSpPr>
      <dsp:spPr>
        <a:xfrm>
          <a:off x="8563264" y="86019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8563264" y="940471"/>
        <a:ext cx="240169" cy="240816"/>
      </dsp:txXfrm>
    </dsp:sp>
    <dsp:sp modelId="{5EC623C1-9538-41E2-A1D9-75BDDBC368F8}">
      <dsp:nvSpPr>
        <dsp:cNvPr id="0" name=""/>
        <dsp:cNvSpPr/>
      </dsp:nvSpPr>
      <dsp:spPr>
        <a:xfrm>
          <a:off x="9068201" y="575363"/>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b.</a:t>
          </a:r>
          <a:r>
            <a:rPr lang="zh-TW" sz="1200" kern="1200"/>
            <a:t>再把同組的第二句排到下一份</a:t>
          </a:r>
          <a:endParaRPr lang="en-US" sz="1200" kern="1200"/>
        </a:p>
      </dsp:txBody>
      <dsp:txXfrm>
        <a:off x="9096642" y="603804"/>
        <a:ext cx="1561507" cy="914151"/>
      </dsp:txXfrm>
    </dsp:sp>
    <dsp:sp modelId="{8393BA39-F309-435C-864D-3DC51A526C77}">
      <dsp:nvSpPr>
        <dsp:cNvPr id="0" name=""/>
        <dsp:cNvSpPr/>
      </dsp:nvSpPr>
      <dsp:spPr>
        <a:xfrm rot="5400000">
          <a:off x="9705847" y="1659684"/>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9756989" y="1688815"/>
        <a:ext cx="240816" cy="240169"/>
      </dsp:txXfrm>
    </dsp:sp>
    <dsp:sp modelId="{67D5628D-033C-45AD-9F4F-4F6D837FB3F1}">
      <dsp:nvSpPr>
        <dsp:cNvPr id="0" name=""/>
        <dsp:cNvSpPr/>
      </dsp:nvSpPr>
      <dsp:spPr>
        <a:xfrm>
          <a:off x="9068201" y="2193752"/>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a:t>
          </a:r>
          <a:r>
            <a:rPr lang="zh-TW" sz="1200" kern="1200" dirty="0"/>
            <a:t>再來先找和這組的第一句相似度最高的接連排到下面的份數直到相似度</a:t>
          </a:r>
          <a:r>
            <a:rPr lang="en-US" sz="1200" kern="1200" dirty="0"/>
            <a:t>&lt;0.7</a:t>
          </a:r>
        </a:p>
      </dsp:txBody>
      <dsp:txXfrm>
        <a:off x="9096642" y="2222193"/>
        <a:ext cx="1561507" cy="914151"/>
      </dsp:txXfrm>
    </dsp:sp>
    <dsp:sp modelId="{3F2550A4-9EBA-490C-A198-D67D70B0ACB9}">
      <dsp:nvSpPr>
        <dsp:cNvPr id="0" name=""/>
        <dsp:cNvSpPr/>
      </dsp:nvSpPr>
      <dsp:spPr>
        <a:xfrm rot="10800000">
          <a:off x="8582685" y="247858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8685614" y="2558861"/>
        <a:ext cx="240169" cy="240816"/>
      </dsp:txXfrm>
    </dsp:sp>
    <dsp:sp modelId="{4560D2E7-F179-44A0-9A2A-36E5ACADB6E1}">
      <dsp:nvSpPr>
        <dsp:cNvPr id="0" name=""/>
        <dsp:cNvSpPr/>
      </dsp:nvSpPr>
      <dsp:spPr>
        <a:xfrm>
          <a:off x="6802456" y="2193752"/>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a:t>
          </a:r>
          <a:r>
            <a:rPr lang="zh-TW" sz="1200" kern="1200"/>
            <a:t>再來先找和這組的第二句相似度最高的接連排到下面的份數直到相似度</a:t>
          </a:r>
          <a:r>
            <a:rPr lang="en-US" sz="1200" kern="1200"/>
            <a:t>&lt;0.7</a:t>
          </a:r>
        </a:p>
      </dsp:txBody>
      <dsp:txXfrm>
        <a:off x="6830897" y="2222193"/>
        <a:ext cx="1561507" cy="914151"/>
      </dsp:txXfrm>
    </dsp:sp>
    <dsp:sp modelId="{CB30365D-44B7-403D-B415-4376CD71A463}">
      <dsp:nvSpPr>
        <dsp:cNvPr id="0" name=""/>
        <dsp:cNvSpPr/>
      </dsp:nvSpPr>
      <dsp:spPr>
        <a:xfrm rot="10800000">
          <a:off x="6316939" y="247858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6419868" y="2558861"/>
        <a:ext cx="240169" cy="240816"/>
      </dsp:txXfrm>
    </dsp:sp>
    <dsp:sp modelId="{DC2035F6-F77E-47A0-AE42-D08267BD15A4}">
      <dsp:nvSpPr>
        <dsp:cNvPr id="0" name=""/>
        <dsp:cNvSpPr/>
      </dsp:nvSpPr>
      <dsp:spPr>
        <a:xfrm>
          <a:off x="4536711" y="2193752"/>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TW" sz="1200" kern="1200"/>
            <a:t>就可以從相似度排序中找相似度第二高的組</a:t>
          </a:r>
          <a:endParaRPr lang="en-US" sz="1200" kern="1200"/>
        </a:p>
      </dsp:txBody>
      <dsp:txXfrm>
        <a:off x="4565152" y="2222193"/>
        <a:ext cx="1561507" cy="914151"/>
      </dsp:txXfrm>
    </dsp:sp>
    <dsp:sp modelId="{E05923CC-D283-48ED-A665-DA1D23023DD0}">
      <dsp:nvSpPr>
        <dsp:cNvPr id="0" name=""/>
        <dsp:cNvSpPr/>
      </dsp:nvSpPr>
      <dsp:spPr>
        <a:xfrm rot="10800000">
          <a:off x="4051194" y="247858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4154123" y="2558861"/>
        <a:ext cx="240169" cy="240816"/>
      </dsp:txXfrm>
    </dsp:sp>
    <dsp:sp modelId="{E8433F6C-38C9-4D0A-AC2C-6D21ED0D337F}">
      <dsp:nvSpPr>
        <dsp:cNvPr id="0" name=""/>
        <dsp:cNvSpPr/>
      </dsp:nvSpPr>
      <dsp:spPr>
        <a:xfrm>
          <a:off x="2270965" y="2193752"/>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TW" sz="1200" kern="1200"/>
            <a:t>接下來就是重複</a:t>
          </a:r>
          <a:r>
            <a:rPr lang="en-US" sz="1200" kern="1200"/>
            <a:t>a.b.c.d.</a:t>
          </a:r>
          <a:r>
            <a:rPr lang="zh-TW" sz="1200" kern="1200"/>
            <a:t>步驟並找下一組直到組別的相似度</a:t>
          </a:r>
          <a:r>
            <a:rPr lang="en-US" sz="1200" kern="1200"/>
            <a:t>&lt;0.7</a:t>
          </a:r>
        </a:p>
      </dsp:txBody>
      <dsp:txXfrm>
        <a:off x="2299406" y="2222193"/>
        <a:ext cx="1561507" cy="914151"/>
      </dsp:txXfrm>
    </dsp:sp>
    <dsp:sp modelId="{56840F36-C839-459B-9A2A-7317C139B591}">
      <dsp:nvSpPr>
        <dsp:cNvPr id="0" name=""/>
        <dsp:cNvSpPr/>
      </dsp:nvSpPr>
      <dsp:spPr>
        <a:xfrm rot="10800000">
          <a:off x="1785449" y="2478589"/>
          <a:ext cx="343098" cy="401360"/>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1888378" y="2558861"/>
        <a:ext cx="240169" cy="240816"/>
      </dsp:txXfrm>
    </dsp:sp>
    <dsp:sp modelId="{3AD7AD2E-EEB9-4C2E-8598-0B08A03620CE}">
      <dsp:nvSpPr>
        <dsp:cNvPr id="0" name=""/>
        <dsp:cNvSpPr/>
      </dsp:nvSpPr>
      <dsp:spPr>
        <a:xfrm>
          <a:off x="5220" y="2193752"/>
          <a:ext cx="1618389" cy="971033"/>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TW" sz="1200" kern="1200"/>
            <a:t>剩下的句子就直接往後排下去</a:t>
          </a:r>
          <a:endParaRPr lang="en-US" sz="1200" kern="1200"/>
        </a:p>
      </dsp:txBody>
      <dsp:txXfrm>
        <a:off x="33661" y="2222193"/>
        <a:ext cx="1561507" cy="914151"/>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EBC10-3637-45E2-A1CC-A452E967DB89}" type="datetimeFigureOut">
              <a:rPr lang="zh-TW" altLang="en-US" smtClean="0"/>
              <a:t>2024/11/23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C9AB81-616A-4521-B9FD-5EB907F1EC7D}" type="slidenum">
              <a:rPr lang="zh-TW" altLang="en-US" smtClean="0"/>
              <a:t>‹#›</a:t>
            </a:fld>
            <a:endParaRPr lang="zh-TW" altLang="en-US"/>
          </a:p>
        </p:txBody>
      </p:sp>
    </p:spTree>
    <p:extLst>
      <p:ext uri="{BB962C8B-B14F-4D97-AF65-F5344CB8AC3E}">
        <p14:creationId xmlns:p14="http://schemas.microsoft.com/office/powerpoint/2010/main" val="1004507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FCAB14B8-F6A7-4774-A74B-B606F055775E}" type="datetime1">
              <a:rPr lang="en-US" altLang="zh-TW" smtClean="0"/>
              <a:t>11/23/2024</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80205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70AA7EDA-3E68-403F-9C28-DE57AC3E9B29}" type="datetime1">
              <a:rPr lang="en-US" altLang="zh-TW" smtClean="0"/>
              <a:t>11/23/2024</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5384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E7294E36-B13D-4CC2-B267-B2319E82AEC5}" type="datetime1">
              <a:rPr lang="en-US" altLang="zh-TW" smtClean="0"/>
              <a:t>11/23/2024</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47105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EF14E824-592A-42C3-B42C-E9652659870C}" type="datetime1">
              <a:rPr lang="en-US" altLang="zh-TW" smtClean="0"/>
              <a:t>11/23/2024</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364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CCD423AA-1522-4C1A-9FD0-E9BE83DDC2D3}" type="datetime1">
              <a:rPr lang="en-US" altLang="zh-TW" smtClean="0"/>
              <a:t>11/23/2024</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39267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D0910047-3777-40AE-AAF0-F6ED750C8585}" type="datetime1">
              <a:rPr lang="en-US" altLang="zh-TW" smtClean="0"/>
              <a:t>11/23/2024</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255765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C489475B-A99D-4D0F-8338-9EFFE2786335}" type="datetime1">
              <a:rPr lang="en-US" altLang="zh-TW" smtClean="0"/>
              <a:t>11/23/2024</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4916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60586D83-3539-47A6-A2D9-EFAE8CCAAFFA}" type="datetime1">
              <a:rPr lang="en-US" altLang="zh-TW" smtClean="0"/>
              <a:t>11/23/2024</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67446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B7EC19ED-C7C7-485B-9648-AA053DFB562A}" type="datetime1">
              <a:rPr lang="en-US" altLang="zh-TW" smtClean="0"/>
              <a:t>11/23/2024</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34775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C20CF5B9-7501-4B13-B8C5-5643BDE16D0C}" type="datetime1">
              <a:rPr lang="en-US" altLang="zh-TW" smtClean="0"/>
              <a:t>11/23/2024</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09258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8DA747B0-3308-40A0-A121-00C298F2DFF2}" type="datetime1">
              <a:rPr lang="en-US" altLang="zh-TW" smtClean="0"/>
              <a:t>11/23/2024</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87222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83F8852B-897C-48CB-A96C-5A28B0ADD60D}" type="datetime1">
              <a:rPr lang="en-US" altLang="zh-TW" smtClean="0"/>
              <a:t>11/23/2024</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26945"/>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2" r:id="rId6"/>
    <p:sldLayoutId id="2147483738" r:id="rId7"/>
    <p:sldLayoutId id="2147483739" r:id="rId8"/>
    <p:sldLayoutId id="2147483740" r:id="rId9"/>
    <p:sldLayoutId id="2147483741" r:id="rId10"/>
    <p:sldLayoutId id="2147483743" r:id="rId11"/>
  </p:sldLayoutIdLst>
  <p:hf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標題 1">
            <a:extLst>
              <a:ext uri="{FF2B5EF4-FFF2-40B4-BE49-F238E27FC236}">
                <a16:creationId xmlns:a16="http://schemas.microsoft.com/office/drawing/2014/main" id="{1506D21B-67C2-8A9B-818B-6B6311581411}"/>
              </a:ext>
            </a:extLst>
          </p:cNvPr>
          <p:cNvSpPr>
            <a:spLocks noGrp="1"/>
          </p:cNvSpPr>
          <p:nvPr>
            <p:ph type="ctrTitle"/>
          </p:nvPr>
        </p:nvSpPr>
        <p:spPr>
          <a:xfrm>
            <a:off x="8138159" y="1177348"/>
            <a:ext cx="3330906" cy="3441068"/>
          </a:xfrm>
        </p:spPr>
        <p:txBody>
          <a:bodyPr vert="horz" lIns="91440" tIns="45720" rIns="91440" bIns="45720" rtlCol="0">
            <a:normAutofit/>
          </a:bodyPr>
          <a:lstStyle/>
          <a:p>
            <a:r>
              <a:rPr lang="zh-TW" altLang="en-US" sz="4200" b="1" dirty="0">
                <a:effectLst/>
              </a:rPr>
              <a:t>電影觀後感情緒分析</a:t>
            </a:r>
            <a:br>
              <a:rPr lang="en-US" altLang="zh-TW" sz="4200" b="1" dirty="0">
                <a:effectLst/>
              </a:rPr>
            </a:br>
            <a:endParaRPr lang="en-US" altLang="zh-TW" sz="4200" dirty="0">
              <a:effectLst/>
            </a:endParaRPr>
          </a:p>
        </p:txBody>
      </p:sp>
      <p:sp>
        <p:nvSpPr>
          <p:cNvPr id="3" name="副標題 2">
            <a:extLst>
              <a:ext uri="{FF2B5EF4-FFF2-40B4-BE49-F238E27FC236}">
                <a16:creationId xmlns:a16="http://schemas.microsoft.com/office/drawing/2014/main" id="{62904CA7-F013-03B0-95E1-8373E287F25A}"/>
              </a:ext>
            </a:extLst>
          </p:cNvPr>
          <p:cNvSpPr>
            <a:spLocks noGrp="1"/>
          </p:cNvSpPr>
          <p:nvPr>
            <p:ph type="subTitle" idx="1"/>
          </p:nvPr>
        </p:nvSpPr>
        <p:spPr>
          <a:xfrm>
            <a:off x="7598979" y="2639505"/>
            <a:ext cx="4467329" cy="3041147"/>
          </a:xfrm>
        </p:spPr>
        <p:txBody>
          <a:bodyPr vert="horz" lIns="91440" tIns="45720" rIns="91440" bIns="45720" rtlCol="0">
            <a:noAutofit/>
          </a:bodyPr>
          <a:lstStyle/>
          <a:p>
            <a:pPr indent="-228600">
              <a:lnSpc>
                <a:spcPct val="100000"/>
              </a:lnSpc>
              <a:buFont typeface="Arial" panose="020B0604020202020204" pitchFamily="34" charset="0"/>
              <a:buChar char="•"/>
            </a:pPr>
            <a:r>
              <a:rPr lang="zh-TW" altLang="en-US" b="1">
                <a:effectLst/>
              </a:rPr>
              <a:t>學號</a:t>
            </a:r>
            <a:r>
              <a:rPr lang="en-US" altLang="zh-TW" b="1">
                <a:effectLst/>
              </a:rPr>
              <a:t> 01057151	</a:t>
            </a:r>
            <a:r>
              <a:rPr lang="zh-TW" altLang="en-US" b="1">
                <a:effectLst/>
              </a:rPr>
              <a:t> </a:t>
            </a:r>
            <a:r>
              <a:rPr lang="en-US" altLang="zh-TW" b="1">
                <a:effectLst/>
              </a:rPr>
              <a:t> </a:t>
            </a:r>
            <a:r>
              <a:rPr lang="zh-TW" altLang="en-US" b="1">
                <a:effectLst/>
              </a:rPr>
              <a:t>姓名 陳建宇</a:t>
            </a:r>
            <a:endParaRPr lang="en-US" altLang="zh-TW" b="1">
              <a:effectLst/>
            </a:endParaRPr>
          </a:p>
          <a:p>
            <a:pPr indent="-228600">
              <a:lnSpc>
                <a:spcPct val="100000"/>
              </a:lnSpc>
              <a:buFont typeface="Arial" panose="020B0604020202020204" pitchFamily="34" charset="0"/>
              <a:buChar char="•"/>
            </a:pPr>
            <a:r>
              <a:rPr lang="zh-TW" altLang="en-US" b="1">
                <a:effectLst/>
              </a:rPr>
              <a:t>學號</a:t>
            </a:r>
            <a:r>
              <a:rPr lang="en-US" altLang="zh-TW" b="1">
                <a:effectLst/>
              </a:rPr>
              <a:t> 01057137	</a:t>
            </a:r>
            <a:r>
              <a:rPr lang="zh-TW" altLang="en-US" b="1">
                <a:effectLst/>
              </a:rPr>
              <a:t>  姓名 黃宇謙</a:t>
            </a:r>
            <a:endParaRPr lang="en-US" altLang="zh-TW" b="1"/>
          </a:p>
          <a:p>
            <a:pPr indent="-228600">
              <a:lnSpc>
                <a:spcPct val="100000"/>
              </a:lnSpc>
              <a:buFont typeface="Arial" panose="020B0604020202020204" pitchFamily="34" charset="0"/>
              <a:buChar char="•"/>
            </a:pPr>
            <a:r>
              <a:rPr lang="zh-TW" altLang="en-US" b="1">
                <a:effectLst/>
              </a:rPr>
              <a:t>學號</a:t>
            </a:r>
            <a:r>
              <a:rPr lang="en-US" altLang="zh-TW" b="1">
                <a:effectLst/>
              </a:rPr>
              <a:t> 01057053	  </a:t>
            </a:r>
            <a:r>
              <a:rPr lang="zh-TW" altLang="en-US" b="1">
                <a:effectLst/>
              </a:rPr>
              <a:t>姓名 王昱傑</a:t>
            </a:r>
            <a:endParaRPr lang="en-US" altLang="zh-TW" b="1">
              <a:effectLst/>
            </a:endParaRPr>
          </a:p>
          <a:p>
            <a:pPr indent="-228600">
              <a:lnSpc>
                <a:spcPct val="100000"/>
              </a:lnSpc>
              <a:buFont typeface="Arial" panose="020B0604020202020204" pitchFamily="34" charset="0"/>
              <a:buChar char="•"/>
            </a:pPr>
            <a:r>
              <a:rPr lang="zh-TW" altLang="en-US" b="1">
                <a:effectLst/>
              </a:rPr>
              <a:t>指導教授：林川傑 博士</a:t>
            </a:r>
            <a:endParaRPr lang="en-US" altLang="zh-TW" b="1">
              <a:effectLst/>
            </a:endParaRPr>
          </a:p>
          <a:p>
            <a:pPr indent="-228600">
              <a:lnSpc>
                <a:spcPct val="100000"/>
              </a:lnSpc>
              <a:buFont typeface="Arial" panose="020B0604020202020204" pitchFamily="34" charset="0"/>
              <a:buChar char="•"/>
            </a:pPr>
            <a:endParaRPr lang="en-US" altLang="zh-TW" b="1" dirty="0"/>
          </a:p>
        </p:txBody>
      </p:sp>
      <p:cxnSp>
        <p:nvCxnSpPr>
          <p:cNvPr id="22" name="Straight Connector 21">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B4D0A9B8-5BAE-9C1A-FCE0-D480EB1AE40F}"/>
              </a:ext>
            </a:extLst>
          </p:cNvPr>
          <p:cNvPicPr>
            <a:picLocks noChangeAspect="1"/>
          </p:cNvPicPr>
          <p:nvPr/>
        </p:nvPicPr>
        <p:blipFill>
          <a:blip r:embed="rId2"/>
          <a:srcRect l="47740" r="1860"/>
          <a:stretch/>
        </p:blipFill>
        <p:spPr>
          <a:xfrm>
            <a:off x="2645444" y="773011"/>
            <a:ext cx="3450556" cy="5134757"/>
          </a:xfrm>
          <a:prstGeom prst="rect">
            <a:avLst/>
          </a:prstGeom>
        </p:spPr>
      </p:pic>
      <p:cxnSp>
        <p:nvCxnSpPr>
          <p:cNvPr id="24" name="Straight Connector 23">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885"/>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投影片編號版面配置區 4">
            <a:extLst>
              <a:ext uri="{FF2B5EF4-FFF2-40B4-BE49-F238E27FC236}">
                <a16:creationId xmlns:a16="http://schemas.microsoft.com/office/drawing/2014/main" id="{50EF81B9-735D-9DB9-151C-ACB2F234D0B5}"/>
              </a:ext>
            </a:extLst>
          </p:cNvPr>
          <p:cNvSpPr>
            <a:spLocks noGrp="1"/>
          </p:cNvSpPr>
          <p:nvPr>
            <p:ph type="sldNum" sz="quarter" idx="12"/>
          </p:nvPr>
        </p:nvSpPr>
        <p:spPr/>
        <p:txBody>
          <a:bodyPr/>
          <a:lstStyle/>
          <a:p>
            <a:fld id="{87E7843D-FF13-4365-9478-9625B70A2705}" type="slidenum">
              <a:rPr lang="en-US" smtClean="0"/>
              <a:t>1</a:t>
            </a:fld>
            <a:endParaRPr lang="en-US"/>
          </a:p>
        </p:txBody>
      </p:sp>
    </p:spTree>
    <p:extLst>
      <p:ext uri="{BB962C8B-B14F-4D97-AF65-F5344CB8AC3E}">
        <p14:creationId xmlns:p14="http://schemas.microsoft.com/office/powerpoint/2010/main" val="1705620076"/>
      </p:ext>
    </p:extLst>
  </p:cSld>
  <p:clrMapOvr>
    <a:masterClrMapping/>
  </p:clrMapOvr>
  <mc:AlternateContent xmlns:mc="http://schemas.openxmlformats.org/markup-compatibility/2006">
    <mc:Choice xmlns:p14="http://schemas.microsoft.com/office/powerpoint/2010/main" Requires="p14">
      <p:transition spd="slow" p14:dur="2000" advTm="11540"/>
    </mc:Choice>
    <mc:Fallback>
      <p:transition spd="slow" advTm="115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8A52BF1A-1A63-A88D-5ECD-EBE1E0379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B59DA0D6-901A-EF47-EBE0-FC06930E55F1}"/>
              </a:ext>
            </a:extLst>
          </p:cNvPr>
          <p:cNvSpPr>
            <a:spLocks noGrp="1"/>
          </p:cNvSpPr>
          <p:nvPr>
            <p:ph type="title"/>
          </p:nvPr>
        </p:nvSpPr>
        <p:spPr>
          <a:xfrm>
            <a:off x="750367" y="914400"/>
            <a:ext cx="10691265" cy="1307592"/>
          </a:xfrm>
        </p:spPr>
        <p:txBody>
          <a:bodyPr>
            <a:normAutofit/>
          </a:bodyPr>
          <a:lstStyle/>
          <a:p>
            <a:pPr algn="ctr"/>
            <a:r>
              <a:rPr lang="zh-TW" altLang="zh-TW" b="1" dirty="0">
                <a:effectLst/>
                <a:ea typeface="DFKai-SB" panose="03000509000000000000" pitchFamily="65" charset="-120"/>
                <a:cs typeface="Times New Roman" panose="02020603050405020304" pitchFamily="18" charset="0"/>
              </a:rPr>
              <a:t>研究動機及簡介</a:t>
            </a:r>
            <a:endParaRPr lang="zh-TW" altLang="en-US" b="1" dirty="0"/>
          </a:p>
        </p:txBody>
      </p:sp>
      <p:sp>
        <p:nvSpPr>
          <p:cNvPr id="3" name="內容版面配置區 2">
            <a:extLst>
              <a:ext uri="{FF2B5EF4-FFF2-40B4-BE49-F238E27FC236}">
                <a16:creationId xmlns:a16="http://schemas.microsoft.com/office/drawing/2014/main" id="{425EF773-8C4B-6C9E-7084-3EB982FAE561}"/>
              </a:ext>
            </a:extLst>
          </p:cNvPr>
          <p:cNvSpPr>
            <a:spLocks noGrp="1"/>
          </p:cNvSpPr>
          <p:nvPr>
            <p:ph idx="1"/>
          </p:nvPr>
        </p:nvSpPr>
        <p:spPr>
          <a:xfrm>
            <a:off x="700635" y="2221992"/>
            <a:ext cx="10870879" cy="3739896"/>
          </a:xfrm>
        </p:spPr>
        <p:txBody>
          <a:bodyPr>
            <a:normAutofit/>
          </a:bodyPr>
          <a:lstStyle/>
          <a:p>
            <a:pPr marL="0" indent="0" algn="l" fontAlgn="base">
              <a:spcBef>
                <a:spcPts val="1800"/>
              </a:spcBef>
              <a:spcAft>
                <a:spcPts val="600"/>
              </a:spcAft>
              <a:buNone/>
            </a:pPr>
            <a:r>
              <a:rPr lang="zh-TW" altLang="en-US" sz="2400" i="0" dirty="0">
                <a:solidFill>
                  <a:srgbClr val="000000"/>
                </a:solidFill>
                <a:effectLst/>
                <a:latin typeface="標楷體" panose="03000509000000000000" pitchFamily="65" charset="-120"/>
                <a:ea typeface="標楷體" panose="03000509000000000000" pitchFamily="65" charset="-120"/>
              </a:rPr>
              <a:t>目前多數電影評論網站僅提供打分或正負面評價，無法捕捉評論中的細膩情緒。 </a:t>
            </a:r>
            <a:endParaRPr lang="en-US" altLang="zh-TW" sz="2400" i="0" dirty="0">
              <a:solidFill>
                <a:srgbClr val="000000"/>
              </a:solidFill>
              <a:effectLst/>
              <a:latin typeface="標楷體" panose="03000509000000000000" pitchFamily="65" charset="-120"/>
              <a:ea typeface="標楷體" panose="03000509000000000000" pitchFamily="65" charset="-120"/>
            </a:endParaRPr>
          </a:p>
          <a:p>
            <a:pPr marL="0" indent="0" algn="l" fontAlgn="base">
              <a:spcBef>
                <a:spcPts val="1800"/>
              </a:spcBef>
              <a:spcAft>
                <a:spcPts val="600"/>
              </a:spcAft>
              <a:buNone/>
            </a:pPr>
            <a:r>
              <a:rPr lang="zh-TW" altLang="en-US" sz="2400" i="0" dirty="0">
                <a:solidFill>
                  <a:srgbClr val="000000"/>
                </a:solidFill>
                <a:effectLst/>
                <a:latin typeface="標楷體" panose="03000509000000000000" pitchFamily="65" charset="-120"/>
                <a:ea typeface="標楷體" panose="03000509000000000000" pitchFamily="65" charset="-120"/>
              </a:rPr>
              <a:t>為提升評論數據的深度價值，此專題利用</a:t>
            </a:r>
            <a:r>
              <a:rPr lang="en-US" altLang="zh-TW" sz="2400" i="0" dirty="0">
                <a:solidFill>
                  <a:srgbClr val="000000"/>
                </a:solidFill>
                <a:effectLst/>
                <a:latin typeface="標楷體" panose="03000509000000000000" pitchFamily="65" charset="-120"/>
                <a:ea typeface="標楷體" panose="03000509000000000000" pitchFamily="65" charset="-120"/>
              </a:rPr>
              <a:t>AI</a:t>
            </a:r>
            <a:r>
              <a:rPr lang="zh-TW" altLang="en-US" sz="2400" i="0" dirty="0">
                <a:solidFill>
                  <a:srgbClr val="000000"/>
                </a:solidFill>
                <a:effectLst/>
                <a:latin typeface="標楷體" panose="03000509000000000000" pitchFamily="65" charset="-120"/>
                <a:ea typeface="標楷體" panose="03000509000000000000" pitchFamily="65" charset="-120"/>
              </a:rPr>
              <a:t>模型分析電影評論的情緒分布，提供更豐富且細緻的情緒數據，幫助觀眾深入了解影片情緒氛圍。</a:t>
            </a:r>
          </a:p>
        </p:txBody>
      </p:sp>
      <p:sp>
        <p:nvSpPr>
          <p:cNvPr id="5" name="投影片編號版面配置區 4">
            <a:extLst>
              <a:ext uri="{FF2B5EF4-FFF2-40B4-BE49-F238E27FC236}">
                <a16:creationId xmlns:a16="http://schemas.microsoft.com/office/drawing/2014/main" id="{9FE7316D-070E-A917-0CFE-8992AB3EB266}"/>
              </a:ext>
            </a:extLst>
          </p:cNvPr>
          <p:cNvSpPr>
            <a:spLocks noGrp="1"/>
          </p:cNvSpPr>
          <p:nvPr>
            <p:ph type="sldNum" sz="quarter" idx="12"/>
          </p:nvPr>
        </p:nvSpPr>
        <p:spPr/>
        <p:txBody>
          <a:bodyPr/>
          <a:lstStyle/>
          <a:p>
            <a:fld id="{87E7843D-FF13-4365-9478-9625B70A2705}" type="slidenum">
              <a:rPr lang="en-US" smtClean="0"/>
              <a:t>2</a:t>
            </a:fld>
            <a:endParaRPr lang="en-US"/>
          </a:p>
        </p:txBody>
      </p:sp>
    </p:spTree>
    <p:extLst>
      <p:ext uri="{BB962C8B-B14F-4D97-AF65-F5344CB8AC3E}">
        <p14:creationId xmlns:p14="http://schemas.microsoft.com/office/powerpoint/2010/main" val="2172098065"/>
      </p:ext>
    </p:extLst>
  </p:cSld>
  <p:clrMapOvr>
    <a:masterClrMapping/>
  </p:clrMapOvr>
  <mc:AlternateContent xmlns:mc="http://schemas.openxmlformats.org/markup-compatibility/2006">
    <mc:Choice xmlns:p14="http://schemas.microsoft.com/office/powerpoint/2010/main" Requires="p14">
      <p:transition spd="slow" p14:dur="2000" advTm="19509"/>
    </mc:Choice>
    <mc:Fallback>
      <p:transition spd="slow" advTm="1950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073B8710-22AC-1389-FD64-1FD840187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0386D752-5F1C-5C3C-7C0F-FF052246CD6A}"/>
              </a:ext>
            </a:extLst>
          </p:cNvPr>
          <p:cNvSpPr>
            <a:spLocks noGrp="1"/>
          </p:cNvSpPr>
          <p:nvPr>
            <p:ph type="title"/>
          </p:nvPr>
        </p:nvSpPr>
        <p:spPr/>
        <p:txBody>
          <a:bodyPr>
            <a:noAutofit/>
          </a:bodyPr>
          <a:lstStyle/>
          <a:p>
            <a:pPr algn="ctr"/>
            <a: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t>研究資料準備</a:t>
            </a:r>
            <a:br>
              <a:rPr lang="zh-TW" altLang="zh-TW"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p:sp>
        <p:nvSpPr>
          <p:cNvPr id="3" name="內容版面配置區 2">
            <a:extLst>
              <a:ext uri="{FF2B5EF4-FFF2-40B4-BE49-F238E27FC236}">
                <a16:creationId xmlns:a16="http://schemas.microsoft.com/office/drawing/2014/main" id="{9DACB1F3-278F-C38B-1990-F94E0BF8BA5E}"/>
              </a:ext>
            </a:extLst>
          </p:cNvPr>
          <p:cNvSpPr>
            <a:spLocks noGrp="1"/>
          </p:cNvSpPr>
          <p:nvPr>
            <p:ph idx="1"/>
          </p:nvPr>
        </p:nvSpPr>
        <p:spPr>
          <a:xfrm>
            <a:off x="750367" y="1737360"/>
            <a:ext cx="10691265" cy="3739896"/>
          </a:xfrm>
        </p:spPr>
        <p:txBody>
          <a:bodyPr>
            <a:normAutofit/>
          </a:bodyPr>
          <a:lstStyle/>
          <a:p>
            <a:r>
              <a:rPr lang="zh-TW" altLang="zh-TW" sz="2400" dirty="0">
                <a:effectLst/>
                <a:ea typeface="DFKai-SB" panose="03000509000000000000" pitchFamily="65" charset="-120"/>
                <a:cs typeface="Times New Roman" panose="02020603050405020304" pitchFamily="18" charset="0"/>
              </a:rPr>
              <a:t>選擇了</a:t>
            </a:r>
            <a:r>
              <a:rPr lang="en-US" altLang="zh-TW" sz="2400" dirty="0">
                <a:effectLst/>
                <a:ea typeface="DFKai-SB" panose="03000509000000000000" pitchFamily="65" charset="-120"/>
                <a:cs typeface="Times New Roman" panose="02020603050405020304" pitchFamily="18" charset="0"/>
              </a:rPr>
              <a:t> 70</a:t>
            </a:r>
            <a:r>
              <a:rPr lang="zh-TW" altLang="zh-TW" sz="2400" dirty="0">
                <a:effectLst/>
                <a:ea typeface="DFKai-SB" panose="03000509000000000000" pitchFamily="65" charset="-120"/>
                <a:cs typeface="Times New Roman" panose="02020603050405020304" pitchFamily="18" charset="0"/>
              </a:rPr>
              <a:t>部有代表性的電影，均衡分佈於不同類型（如動作、喜劇、愛情、科幻、恐怖等），避免單一類別過多導致情緒數據不平衡。</a:t>
            </a:r>
            <a:endParaRPr lang="en-US" altLang="zh-TW" sz="2400" dirty="0">
              <a:effectLst/>
              <a:ea typeface="DFKai-SB" panose="03000509000000000000" pitchFamily="65" charset="-120"/>
              <a:cs typeface="Times New Roman" panose="02020603050405020304" pitchFamily="18" charset="0"/>
            </a:endParaRPr>
          </a:p>
          <a:p>
            <a:pPr marL="306070">
              <a:spcBef>
                <a:spcPts val="600"/>
              </a:spcBef>
            </a:pPr>
            <a:endParaRPr lang="zh-TW" altLang="en-US" sz="2400" dirty="0"/>
          </a:p>
        </p:txBody>
      </p:sp>
      <p:graphicFrame>
        <p:nvGraphicFramePr>
          <p:cNvPr id="5" name="表格 4">
            <a:extLst>
              <a:ext uri="{FF2B5EF4-FFF2-40B4-BE49-F238E27FC236}">
                <a16:creationId xmlns:a16="http://schemas.microsoft.com/office/drawing/2014/main" id="{49404005-6640-74F4-82ED-86D7F2852FB5}"/>
              </a:ext>
            </a:extLst>
          </p:cNvPr>
          <p:cNvGraphicFramePr>
            <a:graphicFrameLocks noGrp="1"/>
          </p:cNvGraphicFramePr>
          <p:nvPr>
            <p:extLst>
              <p:ext uri="{D42A27DB-BD31-4B8C-83A1-F6EECF244321}">
                <p14:modId xmlns:p14="http://schemas.microsoft.com/office/powerpoint/2010/main" val="2708147790"/>
              </p:ext>
            </p:extLst>
          </p:nvPr>
        </p:nvGraphicFramePr>
        <p:xfrm>
          <a:off x="2496312" y="2770632"/>
          <a:ext cx="7004305" cy="3585725"/>
        </p:xfrm>
        <a:graphic>
          <a:graphicData uri="http://schemas.openxmlformats.org/drawingml/2006/table">
            <a:tbl>
              <a:tblPr firstRow="1" firstCol="1" bandRow="1">
                <a:tableStyleId>{D7AC3CCA-C797-4891-BE02-D94E43425B78}</a:tableStyleId>
              </a:tblPr>
              <a:tblGrid>
                <a:gridCol w="1400861">
                  <a:extLst>
                    <a:ext uri="{9D8B030D-6E8A-4147-A177-3AD203B41FA5}">
                      <a16:colId xmlns:a16="http://schemas.microsoft.com/office/drawing/2014/main" val="3219290965"/>
                    </a:ext>
                  </a:extLst>
                </a:gridCol>
                <a:gridCol w="1400861">
                  <a:extLst>
                    <a:ext uri="{9D8B030D-6E8A-4147-A177-3AD203B41FA5}">
                      <a16:colId xmlns:a16="http://schemas.microsoft.com/office/drawing/2014/main" val="3674192470"/>
                    </a:ext>
                  </a:extLst>
                </a:gridCol>
                <a:gridCol w="1400861">
                  <a:extLst>
                    <a:ext uri="{9D8B030D-6E8A-4147-A177-3AD203B41FA5}">
                      <a16:colId xmlns:a16="http://schemas.microsoft.com/office/drawing/2014/main" val="2096243217"/>
                    </a:ext>
                  </a:extLst>
                </a:gridCol>
                <a:gridCol w="1400861">
                  <a:extLst>
                    <a:ext uri="{9D8B030D-6E8A-4147-A177-3AD203B41FA5}">
                      <a16:colId xmlns:a16="http://schemas.microsoft.com/office/drawing/2014/main" val="1154409578"/>
                    </a:ext>
                  </a:extLst>
                </a:gridCol>
                <a:gridCol w="1400861">
                  <a:extLst>
                    <a:ext uri="{9D8B030D-6E8A-4147-A177-3AD203B41FA5}">
                      <a16:colId xmlns:a16="http://schemas.microsoft.com/office/drawing/2014/main" val="3648789731"/>
                    </a:ext>
                  </a:extLst>
                </a:gridCol>
              </a:tblGrid>
              <a:tr h="210925">
                <a:tc>
                  <a:txBody>
                    <a:bodyPr/>
                    <a:lstStyle/>
                    <a:p>
                      <a:r>
                        <a:rPr lang="zh-TW" sz="1200" b="1" dirty="0">
                          <a:effectLst/>
                        </a:rPr>
                        <a:t>駭客任務</a:t>
                      </a:r>
                      <a:endParaRPr lang="zh-TW" sz="1200" b="1"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驚奇隊長</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死侍</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玩命關頭</a:t>
                      </a:r>
                      <a:r>
                        <a:rPr lang="en-US" sz="1200" b="1">
                          <a:effectLst/>
                        </a:rPr>
                        <a:t>7</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黑豹</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4039698620"/>
                  </a:ext>
                </a:extLst>
              </a:tr>
              <a:tr h="210925">
                <a:tc>
                  <a:txBody>
                    <a:bodyPr/>
                    <a:lstStyle/>
                    <a:p>
                      <a:r>
                        <a:rPr lang="zh-TW" sz="1200" b="1" dirty="0">
                          <a:effectLst/>
                        </a:rPr>
                        <a:t>水行俠</a:t>
                      </a:r>
                      <a:endParaRPr lang="zh-TW" sz="1200" b="1"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猩球崛起</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戰狼</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大尾鱸鰻</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三個傻瓜</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1904778696"/>
                  </a:ext>
                </a:extLst>
              </a:tr>
              <a:tr h="210925">
                <a:tc>
                  <a:txBody>
                    <a:bodyPr/>
                    <a:lstStyle/>
                    <a:p>
                      <a:r>
                        <a:rPr lang="zh-TW" sz="1200" b="1" dirty="0">
                          <a:effectLst/>
                        </a:rPr>
                        <a:t>玩具總動員</a:t>
                      </a:r>
                      <a:endParaRPr lang="zh-TW" sz="1200" b="1"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動物方城市</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熊麻吉</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料理鼠王</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唐伯虎點秋香</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1216721509"/>
                  </a:ext>
                </a:extLst>
              </a:tr>
              <a:tr h="210925">
                <a:tc>
                  <a:txBody>
                    <a:bodyPr/>
                    <a:lstStyle/>
                    <a:p>
                      <a:r>
                        <a:rPr lang="zh-TW" sz="1200" b="1">
                          <a:effectLst/>
                        </a:rPr>
                        <a:t>芭比</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dirty="0">
                          <a:effectLst/>
                        </a:rPr>
                        <a:t>鐵達尼號</a:t>
                      </a:r>
                      <a:endParaRPr lang="zh-TW" sz="1200" b="1"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羅馬假期</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斷背山</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阿甘正傳</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1747645171"/>
                  </a:ext>
                </a:extLst>
              </a:tr>
              <a:tr h="210925">
                <a:tc>
                  <a:txBody>
                    <a:bodyPr/>
                    <a:lstStyle/>
                    <a:p>
                      <a:r>
                        <a:rPr lang="zh-TW" sz="1200" b="1">
                          <a:effectLst/>
                        </a:rPr>
                        <a:t>真愛每一天</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樂來越愛你</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一個巨星的誕生</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派特的幸福劇本</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花樣年華</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2647910304"/>
                  </a:ext>
                </a:extLst>
              </a:tr>
              <a:tr h="210925">
                <a:tc>
                  <a:txBody>
                    <a:bodyPr/>
                    <a:lstStyle/>
                    <a:p>
                      <a:r>
                        <a:rPr lang="zh-TW" sz="1200" b="1">
                          <a:effectLst/>
                        </a:rPr>
                        <a:t>戀夏</a:t>
                      </a:r>
                      <a:r>
                        <a:rPr lang="en-US" sz="1200" b="1">
                          <a:effectLst/>
                        </a:rPr>
                        <a:t>500</a:t>
                      </a:r>
                      <a:r>
                        <a:rPr lang="zh-TW" sz="1200" b="1">
                          <a:effectLst/>
                        </a:rPr>
                        <a:t>日</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星際效應</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全面啟動</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一級玩家</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移動迷宮</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2680650086"/>
                  </a:ext>
                </a:extLst>
              </a:tr>
              <a:tr h="210925">
                <a:tc>
                  <a:txBody>
                    <a:bodyPr/>
                    <a:lstStyle/>
                    <a:p>
                      <a:r>
                        <a:rPr lang="zh-TW" sz="1200" b="1">
                          <a:effectLst/>
                        </a:rPr>
                        <a:t>火星救援</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厲陰宅</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屍速列車</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異形</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紅衣小女孩</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4198834262"/>
                  </a:ext>
                </a:extLst>
              </a:tr>
              <a:tr h="210925">
                <a:tc>
                  <a:txBody>
                    <a:bodyPr/>
                    <a:lstStyle/>
                    <a:p>
                      <a:r>
                        <a:rPr lang="zh-TW" sz="1200" b="1">
                          <a:effectLst/>
                        </a:rPr>
                        <a:t>絕命終結站</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搶救雷恩大兵</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螢火蟲之墓</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敦克爾克大行動</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西線無戰事</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3172319516"/>
                  </a:ext>
                </a:extLst>
              </a:tr>
              <a:tr h="210925">
                <a:tc>
                  <a:txBody>
                    <a:bodyPr/>
                    <a:lstStyle/>
                    <a:p>
                      <a:r>
                        <a:rPr lang="zh-TW" sz="1200" b="1">
                          <a:effectLst/>
                        </a:rPr>
                        <a:t>模仿遊戲</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美國狙擊手</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賽德克巴萊</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加州大地震</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不願面對的真相</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3587975360"/>
                  </a:ext>
                </a:extLst>
              </a:tr>
              <a:tr h="421850">
                <a:tc>
                  <a:txBody>
                    <a:bodyPr/>
                    <a:lstStyle/>
                    <a:p>
                      <a:r>
                        <a:rPr lang="zh-TW" sz="1200" b="1">
                          <a:effectLst/>
                        </a:rPr>
                        <a:t>你的名字</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灌籃高手</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排球少年 垃圾場的決戰</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我和我的冠軍女兒</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dirty="0">
                          <a:effectLst/>
                        </a:rPr>
                        <a:t>翻滾吧！阿信</a:t>
                      </a:r>
                      <a:endParaRPr lang="zh-TW" sz="1200" b="1"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4288959727"/>
                  </a:ext>
                </a:extLst>
              </a:tr>
              <a:tr h="210925">
                <a:tc>
                  <a:txBody>
                    <a:bodyPr/>
                    <a:lstStyle/>
                    <a:p>
                      <a:r>
                        <a:rPr lang="zh-TW" sz="1200" b="1">
                          <a:effectLst/>
                        </a:rPr>
                        <a:t>魔球</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攻其不備</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破風</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神隱少女</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崖上的波妞</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1203548613"/>
                  </a:ext>
                </a:extLst>
              </a:tr>
              <a:tr h="210925">
                <a:tc>
                  <a:txBody>
                    <a:bodyPr/>
                    <a:lstStyle/>
                    <a:p>
                      <a:r>
                        <a:rPr lang="zh-TW" sz="1200" b="1">
                          <a:effectLst/>
                        </a:rPr>
                        <a:t>霍爾的移動城堡</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借物少女艾莉緹</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魔法公主</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可可夜總會</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汽車總動員</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3970603015"/>
                  </a:ext>
                </a:extLst>
              </a:tr>
              <a:tr h="421850">
                <a:tc>
                  <a:txBody>
                    <a:bodyPr/>
                    <a:lstStyle/>
                    <a:p>
                      <a:r>
                        <a:rPr lang="zh-TW" sz="1200" b="1">
                          <a:effectLst/>
                        </a:rPr>
                        <a:t>怪獸電力公司</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野蠻遊戲</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少年</a:t>
                      </a:r>
                      <a:r>
                        <a:rPr lang="en-US" sz="1200" b="1">
                          <a:effectLst/>
                        </a:rPr>
                        <a:t>pi</a:t>
                      </a:r>
                      <a:r>
                        <a:rPr lang="zh-TW" sz="1200" b="1">
                          <a:effectLst/>
                        </a:rPr>
                        <a:t>的奇幻漂流</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自殺突擊隊</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古墓奇兵</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644791508"/>
                  </a:ext>
                </a:extLst>
              </a:tr>
              <a:tr h="210925">
                <a:tc>
                  <a:txBody>
                    <a:bodyPr/>
                    <a:lstStyle/>
                    <a:p>
                      <a:r>
                        <a:rPr lang="zh-TW" sz="1200" b="1">
                          <a:effectLst/>
                        </a:rPr>
                        <a:t>功夫熊貓</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特技玩家</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奪魂鋸</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貓的報恩</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zh-TW" sz="1200" b="1">
                          <a:effectLst/>
                        </a:rPr>
                        <a:t>絕地救援</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2079572321"/>
                  </a:ext>
                </a:extLst>
              </a:tr>
              <a:tr h="210925">
                <a:tc>
                  <a:txBody>
                    <a:bodyPr/>
                    <a:lstStyle/>
                    <a:p>
                      <a:r>
                        <a:rPr lang="en-US" sz="1200" b="1">
                          <a:effectLst/>
                        </a:rPr>
                        <a:t> </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en-US" sz="1200" b="1">
                          <a:effectLst/>
                        </a:rPr>
                        <a:t> </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en-US" sz="1200" b="1">
                          <a:effectLst/>
                        </a:rPr>
                        <a:t> </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en-US" sz="1200" b="1">
                          <a:effectLst/>
                        </a:rPr>
                        <a:t> </a:t>
                      </a:r>
                      <a:endParaRPr lang="zh-TW" sz="1200" b="1">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tc>
                  <a:txBody>
                    <a:bodyPr/>
                    <a:lstStyle/>
                    <a:p>
                      <a:r>
                        <a:rPr lang="en-US" sz="1200" b="1" dirty="0">
                          <a:effectLst/>
                        </a:rPr>
                        <a:t> </a:t>
                      </a:r>
                      <a:endParaRPr lang="zh-TW" sz="1200" b="1" dirty="0">
                        <a:effectLst/>
                        <a:latin typeface="標楷體" panose="03000509000000000000" pitchFamily="65" charset="-120"/>
                        <a:ea typeface="標楷體" panose="03000509000000000000" pitchFamily="65" charset="-120"/>
                        <a:cs typeface="Times New Roman" panose="02020603050405020304" pitchFamily="18" charset="0"/>
                      </a:endParaRPr>
                    </a:p>
                  </a:txBody>
                  <a:tcPr marL="68580" marR="68580" marT="0" marB="0"/>
                </a:tc>
                <a:extLst>
                  <a:ext uri="{0D108BD9-81ED-4DB2-BD59-A6C34878D82A}">
                    <a16:rowId xmlns:a16="http://schemas.microsoft.com/office/drawing/2014/main" val="496880894"/>
                  </a:ext>
                </a:extLst>
              </a:tr>
            </a:tbl>
          </a:graphicData>
        </a:graphic>
      </p:graphicFrame>
      <p:sp>
        <p:nvSpPr>
          <p:cNvPr id="6" name="投影片編號版面配置區 5">
            <a:extLst>
              <a:ext uri="{FF2B5EF4-FFF2-40B4-BE49-F238E27FC236}">
                <a16:creationId xmlns:a16="http://schemas.microsoft.com/office/drawing/2014/main" id="{6B4E44FA-75A2-C70E-C404-56E669DF73E3}"/>
              </a:ext>
            </a:extLst>
          </p:cNvPr>
          <p:cNvSpPr>
            <a:spLocks noGrp="1"/>
          </p:cNvSpPr>
          <p:nvPr>
            <p:ph type="sldNum" sz="quarter" idx="12"/>
          </p:nvPr>
        </p:nvSpPr>
        <p:spPr/>
        <p:txBody>
          <a:bodyPr/>
          <a:lstStyle/>
          <a:p>
            <a:fld id="{87E7843D-FF13-4365-9478-9625B70A2705}" type="slidenum">
              <a:rPr lang="en-US" smtClean="0"/>
              <a:t>3</a:t>
            </a:fld>
            <a:endParaRPr lang="en-US"/>
          </a:p>
        </p:txBody>
      </p:sp>
    </p:spTree>
    <p:extLst>
      <p:ext uri="{BB962C8B-B14F-4D97-AF65-F5344CB8AC3E}">
        <p14:creationId xmlns:p14="http://schemas.microsoft.com/office/powerpoint/2010/main" val="2136084252"/>
      </p:ext>
    </p:extLst>
  </p:cSld>
  <p:clrMapOvr>
    <a:masterClrMapping/>
  </p:clrMapOvr>
  <mc:AlternateContent xmlns:mc="http://schemas.openxmlformats.org/markup-compatibility/2006">
    <mc:Choice xmlns:p14="http://schemas.microsoft.com/office/powerpoint/2010/main" Requires="p14">
      <p:transition spd="slow" p14:dur="2000" advTm="16443"/>
    </mc:Choice>
    <mc:Fallback>
      <p:transition spd="slow" advTm="1644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1E49E-C3E0-243D-A3F8-B1547BCC4018}"/>
            </a:ext>
          </a:extLst>
        </p:cNvPr>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CA481953-FC3F-5B8E-D1A3-92E5EDC8DF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49E9D1CA-2A91-E244-1CD6-CDEC4E4B1A6D}"/>
              </a:ext>
            </a:extLst>
          </p:cNvPr>
          <p:cNvSpPr>
            <a:spLocks noGrp="1"/>
          </p:cNvSpPr>
          <p:nvPr>
            <p:ph type="title"/>
          </p:nvPr>
        </p:nvSpPr>
        <p:spPr/>
        <p:txBody>
          <a:bodyPr>
            <a:noAutofit/>
          </a:bodyPr>
          <a:lstStyle/>
          <a:p>
            <a:pPr algn="ctr"/>
            <a: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t>研究資料準備</a:t>
            </a:r>
            <a:br>
              <a:rPr lang="zh-TW" altLang="zh-TW"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p:sp>
        <p:nvSpPr>
          <p:cNvPr id="3" name="內容版面配置區 2">
            <a:extLst>
              <a:ext uri="{FF2B5EF4-FFF2-40B4-BE49-F238E27FC236}">
                <a16:creationId xmlns:a16="http://schemas.microsoft.com/office/drawing/2014/main" id="{34FC8065-9008-2653-8A49-56AE9CBA7B14}"/>
              </a:ext>
            </a:extLst>
          </p:cNvPr>
          <p:cNvSpPr>
            <a:spLocks noGrp="1"/>
          </p:cNvSpPr>
          <p:nvPr>
            <p:ph idx="1"/>
          </p:nvPr>
        </p:nvSpPr>
        <p:spPr>
          <a:xfrm>
            <a:off x="750367" y="1737360"/>
            <a:ext cx="10691265" cy="3739896"/>
          </a:xfrm>
        </p:spPr>
        <p:txBody>
          <a:bodyPr>
            <a:normAutofit/>
          </a:bodyPr>
          <a:lstStyle/>
          <a:p>
            <a:pPr marL="306070">
              <a:spcBef>
                <a:spcPts val="600"/>
              </a:spcBef>
            </a:pP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選擇了三個不同平台來蒐集資料，</a:t>
            </a:r>
            <a:r>
              <a:rPr lang="zh-TW" altLang="en-US" sz="2400" dirty="0">
                <a:effectLst/>
                <a:latin typeface="DFKai-SB" panose="03000509000000000000" pitchFamily="65" charset="-120"/>
                <a:ea typeface="DFKai-SB" panose="03000509000000000000" pitchFamily="65" charset="-120"/>
                <a:cs typeface="Times New Roman" panose="02020603050405020304" pitchFamily="18" charset="0"/>
              </a:rPr>
              <a:t>分別為</a:t>
            </a:r>
            <a:r>
              <a:rPr lang="en-US" altLang="zh-TW" sz="2400" dirty="0" err="1">
                <a:effectLst/>
                <a:latin typeface="DFKai-SB" panose="03000509000000000000" pitchFamily="65" charset="-120"/>
                <a:ea typeface="DFKai-SB" panose="03000509000000000000" pitchFamily="65" charset="-120"/>
                <a:cs typeface="Times New Roman" panose="02020603050405020304" pitchFamily="18" charset="0"/>
              </a:rPr>
              <a:t>ptt</a:t>
            </a:r>
            <a:r>
              <a:rPr lang="zh-TW" altLang="en-US" sz="2400" dirty="0"/>
              <a:t>、</a:t>
            </a:r>
            <a:r>
              <a:rPr lang="en-US" altLang="zh-TW" sz="2400" dirty="0"/>
              <a:t>X</a:t>
            </a:r>
            <a:r>
              <a:rPr lang="zh-TW" altLang="en-US" sz="2400" dirty="0">
                <a:latin typeface="DFKai-SB" panose="03000509000000000000" pitchFamily="65" charset="-120"/>
                <a:ea typeface="DFKai-SB" panose="03000509000000000000" pitchFamily="65" charset="-120"/>
              </a:rPr>
              <a:t>和豆瓣</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a:t>
            </a:r>
            <a:endParaRPr lang="en-US" altLang="zh-TW" sz="2400" dirty="0">
              <a:effectLst/>
              <a:latin typeface="DFKai-SB" panose="03000509000000000000" pitchFamily="65" charset="-120"/>
              <a:ea typeface="DFKai-SB" panose="03000509000000000000" pitchFamily="65" charset="-120"/>
              <a:cs typeface="Times New Roman" panose="02020603050405020304" pitchFamily="18" charset="0"/>
            </a:endParaRPr>
          </a:p>
          <a:p>
            <a:pPr marL="306070">
              <a:spcBef>
                <a:spcPts val="600"/>
              </a:spcBef>
            </a:pP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每部電影都先最多爬</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500</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個評論</a:t>
            </a:r>
            <a:endParaRPr lang="en-US" altLang="zh-TW" sz="2400" dirty="0">
              <a:effectLst/>
              <a:latin typeface="DFKai-SB" panose="03000509000000000000" pitchFamily="65" charset="-120"/>
              <a:ea typeface="DFKai-SB" panose="03000509000000000000" pitchFamily="65" charset="-120"/>
              <a:cs typeface="Times New Roman" panose="02020603050405020304" pitchFamily="18" charset="0"/>
            </a:endParaRPr>
          </a:p>
        </p:txBody>
      </p:sp>
      <p:sp>
        <p:nvSpPr>
          <p:cNvPr id="6" name="投影片編號版面配置區 5">
            <a:extLst>
              <a:ext uri="{FF2B5EF4-FFF2-40B4-BE49-F238E27FC236}">
                <a16:creationId xmlns:a16="http://schemas.microsoft.com/office/drawing/2014/main" id="{F91890C2-7161-BC00-D3E0-50153A0CB80D}"/>
              </a:ext>
            </a:extLst>
          </p:cNvPr>
          <p:cNvSpPr>
            <a:spLocks noGrp="1"/>
          </p:cNvSpPr>
          <p:nvPr>
            <p:ph type="sldNum" sz="quarter" idx="12"/>
          </p:nvPr>
        </p:nvSpPr>
        <p:spPr/>
        <p:txBody>
          <a:bodyPr/>
          <a:lstStyle/>
          <a:p>
            <a:fld id="{87E7843D-FF13-4365-9478-9625B70A2705}" type="slidenum">
              <a:rPr lang="en-US" smtClean="0"/>
              <a:t>4</a:t>
            </a:fld>
            <a:endParaRPr lang="en-US"/>
          </a:p>
        </p:txBody>
      </p:sp>
      <p:pic>
        <p:nvPicPr>
          <p:cNvPr id="12" name="圖片 11">
            <a:extLst>
              <a:ext uri="{FF2B5EF4-FFF2-40B4-BE49-F238E27FC236}">
                <a16:creationId xmlns:a16="http://schemas.microsoft.com/office/drawing/2014/main" id="{3EC34B1A-AD5F-0E93-AE5D-62F9DF767C56}"/>
              </a:ext>
            </a:extLst>
          </p:cNvPr>
          <p:cNvPicPr>
            <a:picLocks noChangeAspect="1"/>
          </p:cNvPicPr>
          <p:nvPr/>
        </p:nvPicPr>
        <p:blipFill>
          <a:blip r:embed="rId3"/>
          <a:stretch>
            <a:fillRect/>
          </a:stretch>
        </p:blipFill>
        <p:spPr>
          <a:xfrm>
            <a:off x="46177" y="3083009"/>
            <a:ext cx="4379193" cy="3136921"/>
          </a:xfrm>
          <a:prstGeom prst="rect">
            <a:avLst/>
          </a:prstGeom>
        </p:spPr>
      </p:pic>
      <p:pic>
        <p:nvPicPr>
          <p:cNvPr id="13" name="內容版面配置區 3" descr="一張含有 文字, 螢幕擷取畫面, 字型, 數字 的圖片&#10;&#10;自動產生的描述">
            <a:extLst>
              <a:ext uri="{FF2B5EF4-FFF2-40B4-BE49-F238E27FC236}">
                <a16:creationId xmlns:a16="http://schemas.microsoft.com/office/drawing/2014/main" id="{B43E3DE3-B699-E705-7161-E6836A0C264D}"/>
              </a:ext>
            </a:extLst>
          </p:cNvPr>
          <p:cNvPicPr>
            <a:picLocks noChangeAspect="1"/>
          </p:cNvPicPr>
          <p:nvPr/>
        </p:nvPicPr>
        <p:blipFill>
          <a:blip r:embed="rId4"/>
          <a:stretch>
            <a:fillRect/>
          </a:stretch>
        </p:blipFill>
        <p:spPr>
          <a:xfrm>
            <a:off x="8241087" y="3101086"/>
            <a:ext cx="3904735" cy="3121070"/>
          </a:xfrm>
          <a:prstGeom prst="rect">
            <a:avLst/>
          </a:prstGeom>
          <a:ln>
            <a:solidFill>
              <a:schemeClr val="tx1"/>
            </a:solidFill>
          </a:ln>
        </p:spPr>
      </p:pic>
      <p:pic>
        <p:nvPicPr>
          <p:cNvPr id="2050" name="Picture 2">
            <a:extLst>
              <a:ext uri="{FF2B5EF4-FFF2-40B4-BE49-F238E27FC236}">
                <a16:creationId xmlns:a16="http://schemas.microsoft.com/office/drawing/2014/main" id="{90FE9398-AEDE-D7AE-306F-3544F6374F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5369" y="3083010"/>
            <a:ext cx="3815717" cy="3136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1638935"/>
      </p:ext>
    </p:extLst>
  </p:cSld>
  <p:clrMapOvr>
    <a:masterClrMapping/>
  </p:clrMapOvr>
  <mc:AlternateContent xmlns:mc="http://schemas.openxmlformats.org/markup-compatibility/2006">
    <mc:Choice xmlns:p14="http://schemas.microsoft.com/office/powerpoint/2010/main" Requires="p14">
      <p:transition spd="slow" p14:dur="2000" advTm="15450"/>
    </mc:Choice>
    <mc:Fallback>
      <p:transition spd="slow" advTm="1545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简约小清新莫兰迪色系ppt背景-背景-爱西西">
            <a:extLst>
              <a:ext uri="{FF2B5EF4-FFF2-40B4-BE49-F238E27FC236}">
                <a16:creationId xmlns:a16="http://schemas.microsoft.com/office/drawing/2014/main" id="{F6A8B26E-3ACB-0340-0CC0-954D294383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B78E1DCE-BBBC-9BC3-D0E9-8BFE0092C6F5}"/>
              </a:ext>
            </a:extLst>
          </p:cNvPr>
          <p:cNvSpPr>
            <a:spLocks noGrp="1"/>
          </p:cNvSpPr>
          <p:nvPr>
            <p:ph type="title"/>
          </p:nvPr>
        </p:nvSpPr>
        <p:spPr>
          <a:xfrm>
            <a:off x="439471" y="1034676"/>
            <a:ext cx="10691265" cy="1307592"/>
          </a:xfrm>
        </p:spPr>
        <p:txBody>
          <a:bodyPr/>
          <a:lstStyle/>
          <a:p>
            <a:pPr algn="ctr"/>
            <a:r>
              <a:rPr lang="zh-TW" altLang="en-US" b="1" dirty="0">
                <a:latin typeface="DFKai-SB" panose="03000509000000000000" pitchFamily="65" charset="-120"/>
                <a:ea typeface="DFKai-SB" panose="03000509000000000000" pitchFamily="65" charset="-120"/>
              </a:rPr>
              <a:t>爬取資料</a:t>
            </a:r>
          </a:p>
        </p:txBody>
      </p:sp>
      <p:pic>
        <p:nvPicPr>
          <p:cNvPr id="4" name="內容版面配置區 3" descr="一張含有 文字, 螢幕擷取畫面, 字型, 數字 的圖片&#10;&#10;自動產生的描述">
            <a:extLst>
              <a:ext uri="{FF2B5EF4-FFF2-40B4-BE49-F238E27FC236}">
                <a16:creationId xmlns:a16="http://schemas.microsoft.com/office/drawing/2014/main" id="{CAC60DDB-51F7-7346-0B6A-9563142F198B}"/>
              </a:ext>
            </a:extLst>
          </p:cNvPr>
          <p:cNvPicPr>
            <a:picLocks noGrp="1" noChangeAspect="1"/>
          </p:cNvPicPr>
          <p:nvPr>
            <p:ph idx="1"/>
          </p:nvPr>
        </p:nvPicPr>
        <p:blipFill>
          <a:blip r:embed="rId3"/>
          <a:stretch>
            <a:fillRect/>
          </a:stretch>
        </p:blipFill>
        <p:spPr>
          <a:xfrm>
            <a:off x="439471" y="2186820"/>
            <a:ext cx="5685288" cy="3740150"/>
          </a:xfrm>
          <a:prstGeom prst="rect">
            <a:avLst/>
          </a:prstGeom>
          <a:ln>
            <a:solidFill>
              <a:schemeClr val="tx1"/>
            </a:solidFill>
          </a:ln>
        </p:spPr>
      </p:pic>
      <p:sp>
        <p:nvSpPr>
          <p:cNvPr id="5" name="投影片編號版面配置區 4">
            <a:extLst>
              <a:ext uri="{FF2B5EF4-FFF2-40B4-BE49-F238E27FC236}">
                <a16:creationId xmlns:a16="http://schemas.microsoft.com/office/drawing/2014/main" id="{25286A75-65ED-C50A-E67E-B5F846EBE757}"/>
              </a:ext>
            </a:extLst>
          </p:cNvPr>
          <p:cNvSpPr>
            <a:spLocks noGrp="1"/>
          </p:cNvSpPr>
          <p:nvPr>
            <p:ph type="sldNum" sz="quarter" idx="12"/>
          </p:nvPr>
        </p:nvSpPr>
        <p:spPr/>
        <p:txBody>
          <a:bodyPr/>
          <a:lstStyle/>
          <a:p>
            <a:fld id="{87E7843D-FF13-4365-9478-9625B70A2705}" type="slidenum">
              <a:rPr lang="en-US" smtClean="0"/>
              <a:t>5</a:t>
            </a:fld>
            <a:endParaRPr lang="en-US"/>
          </a:p>
        </p:txBody>
      </p:sp>
      <p:sp>
        <p:nvSpPr>
          <p:cNvPr id="6" name="矩形 5">
            <a:extLst>
              <a:ext uri="{FF2B5EF4-FFF2-40B4-BE49-F238E27FC236}">
                <a16:creationId xmlns:a16="http://schemas.microsoft.com/office/drawing/2014/main" id="{FB4409DB-CB61-4919-E751-4932C53175D5}"/>
              </a:ext>
            </a:extLst>
          </p:cNvPr>
          <p:cNvSpPr/>
          <p:nvPr/>
        </p:nvSpPr>
        <p:spPr>
          <a:xfrm>
            <a:off x="6124759" y="2186820"/>
            <a:ext cx="5466607" cy="3740150"/>
          </a:xfrm>
          <a:prstGeom prst="rect">
            <a:avLst/>
          </a:prstGeom>
          <a:solidFill>
            <a:schemeClr val="accent1">
              <a:lumMod val="40000"/>
              <a:lumOff val="6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dirty="0">
                <a:solidFill>
                  <a:schemeClr val="tx1"/>
                </a:solidFill>
                <a:latin typeface="DFKai-SB" panose="03000509000000000000" pitchFamily="65" charset="-120"/>
                <a:ea typeface="DFKai-SB" panose="03000509000000000000" pitchFamily="65" charset="-120"/>
              </a:rPr>
              <a:t>{</a:t>
            </a:r>
          </a:p>
          <a:p>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電影名稱</a:t>
            </a:r>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速度與激情</a:t>
            </a:r>
            <a:r>
              <a:rPr lang="en-US" altLang="zh-TW" dirty="0">
                <a:solidFill>
                  <a:schemeClr val="tx1"/>
                </a:solidFill>
                <a:latin typeface="DFKai-SB" panose="03000509000000000000" pitchFamily="65" charset="-120"/>
                <a:ea typeface="DFKai-SB" panose="03000509000000000000" pitchFamily="65" charset="-120"/>
              </a:rPr>
              <a:t>7 Furious 7",</a:t>
            </a:r>
          </a:p>
          <a:p>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用戶名</a:t>
            </a:r>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木衛二</a:t>
            </a:r>
            <a:r>
              <a:rPr lang="en-US" altLang="zh-TW" dirty="0">
                <a:solidFill>
                  <a:schemeClr val="tx1"/>
                </a:solidFill>
                <a:latin typeface="DFKai-SB" panose="03000509000000000000" pitchFamily="65" charset="-120"/>
                <a:ea typeface="DFKai-SB" panose="03000509000000000000" pitchFamily="65" charset="-120"/>
              </a:rPr>
              <a:t>"</a:t>
            </a:r>
          </a:p>
          <a:p>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按讚數</a:t>
            </a:r>
            <a:r>
              <a:rPr lang="en-US" altLang="zh-TW" dirty="0">
                <a:solidFill>
                  <a:schemeClr val="tx1"/>
                </a:solidFill>
                <a:latin typeface="DFKai-SB" panose="03000509000000000000" pitchFamily="65" charset="-120"/>
                <a:ea typeface="DFKai-SB" panose="03000509000000000000" pitchFamily="65" charset="-120"/>
              </a:rPr>
              <a:t>": "298 </a:t>
            </a:r>
            <a:r>
              <a:rPr lang="zh-TW" altLang="en-US" dirty="0">
                <a:solidFill>
                  <a:schemeClr val="tx1"/>
                </a:solidFill>
                <a:latin typeface="DFKai-SB" panose="03000509000000000000" pitchFamily="65" charset="-120"/>
                <a:ea typeface="DFKai-SB" panose="03000509000000000000" pitchFamily="65" charset="-120"/>
              </a:rPr>
              <a:t>有用</a:t>
            </a:r>
            <a:r>
              <a:rPr lang="en-US" altLang="zh-TW" dirty="0">
                <a:solidFill>
                  <a:schemeClr val="tx1"/>
                </a:solidFill>
                <a:latin typeface="DFKai-SB" panose="03000509000000000000" pitchFamily="65" charset="-120"/>
                <a:ea typeface="DFKai-SB" panose="03000509000000000000" pitchFamily="65" charset="-120"/>
              </a:rPr>
              <a:t>",</a:t>
            </a:r>
          </a:p>
          <a:p>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評分</a:t>
            </a:r>
            <a:r>
              <a:rPr lang="en-US" altLang="zh-TW" dirty="0">
                <a:solidFill>
                  <a:schemeClr val="tx1"/>
                </a:solidFill>
                <a:latin typeface="DFKai-SB" panose="03000509000000000000" pitchFamily="65" charset="-120"/>
                <a:ea typeface="DFKai-SB" panose="03000509000000000000" pitchFamily="65" charset="-120"/>
              </a:rPr>
              <a:t>": 3,</a:t>
            </a:r>
          </a:p>
          <a:p>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評論時間</a:t>
            </a:r>
            <a:r>
              <a:rPr lang="en-US" altLang="zh-TW" dirty="0">
                <a:solidFill>
                  <a:schemeClr val="tx1"/>
                </a:solidFill>
                <a:latin typeface="DFKai-SB" panose="03000509000000000000" pitchFamily="65" charset="-120"/>
                <a:ea typeface="DFKai-SB" panose="03000509000000000000" pitchFamily="65" charset="-120"/>
              </a:rPr>
              <a:t>": "2015-04-12 18:36:03",</a:t>
            </a:r>
          </a:p>
          <a:p>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評論內容</a:t>
            </a:r>
            <a:r>
              <a:rPr lang="en-US" altLang="zh-TW" dirty="0">
                <a:solidFill>
                  <a:schemeClr val="tx1"/>
                </a:solidFill>
                <a:latin typeface="DFKai-SB" panose="03000509000000000000" pitchFamily="65" charset="-120"/>
                <a:ea typeface="DFKai-SB" panose="03000509000000000000" pitchFamily="65" charset="-120"/>
              </a:rPr>
              <a:t>”: “《</a:t>
            </a:r>
            <a:r>
              <a:rPr lang="zh-TW" altLang="en-US" dirty="0">
                <a:solidFill>
                  <a:schemeClr val="tx1"/>
                </a:solidFill>
                <a:latin typeface="DFKai-SB" panose="03000509000000000000" pitchFamily="65" charset="-120"/>
                <a:ea typeface="DFKai-SB" panose="03000509000000000000" pitchFamily="65" charset="-120"/>
              </a:rPr>
              <a:t>速度與激情</a:t>
            </a:r>
            <a:r>
              <a:rPr lang="en-US" altLang="zh-TW" dirty="0">
                <a:solidFill>
                  <a:schemeClr val="tx1"/>
                </a:solidFill>
                <a:latin typeface="DFKai-SB" panose="03000509000000000000" pitchFamily="65" charset="-120"/>
                <a:ea typeface="DFKai-SB" panose="03000509000000000000" pitchFamily="65" charset="-120"/>
              </a:rPr>
              <a:t>7》</a:t>
            </a:r>
            <a:r>
              <a:rPr lang="zh-TW" altLang="en-US" dirty="0">
                <a:solidFill>
                  <a:schemeClr val="tx1"/>
                </a:solidFill>
                <a:latin typeface="DFKai-SB" panose="03000509000000000000" pitchFamily="65" charset="-120"/>
                <a:ea typeface="DFKai-SB" panose="03000509000000000000" pitchFamily="65" charset="-120"/>
              </a:rPr>
              <a:t>在中國內地的誇張火爆說明了什麼？</a:t>
            </a:r>
            <a:r>
              <a:rPr lang="en-US" altLang="zh-TW" dirty="0">
                <a:solidFill>
                  <a:schemeClr val="tx1"/>
                </a:solidFill>
                <a:latin typeface="DFKai-SB" panose="03000509000000000000" pitchFamily="65" charset="-120"/>
                <a:ea typeface="DFKai-SB" panose="03000509000000000000" pitchFamily="65" charset="-120"/>
              </a:rPr>
              <a:t>A</a:t>
            </a:r>
            <a:r>
              <a:rPr lang="zh-TW" altLang="en-US" dirty="0">
                <a:solidFill>
                  <a:schemeClr val="tx1"/>
                </a:solidFill>
                <a:latin typeface="DFKai-SB" panose="03000509000000000000" pitchFamily="65" charset="-120"/>
                <a:ea typeface="DFKai-SB" panose="03000509000000000000" pitchFamily="65" charset="-120"/>
              </a:rPr>
              <a:t>：國產片都是紙老虎。</a:t>
            </a:r>
            <a:r>
              <a:rPr lang="en-US" altLang="zh-TW" dirty="0">
                <a:solidFill>
                  <a:schemeClr val="tx1"/>
                </a:solidFill>
                <a:latin typeface="DFKai-SB" panose="03000509000000000000" pitchFamily="65" charset="-120"/>
                <a:ea typeface="DFKai-SB" panose="03000509000000000000" pitchFamily="65" charset="-120"/>
              </a:rPr>
              <a:t>B</a:t>
            </a:r>
            <a:r>
              <a:rPr lang="zh-TW" altLang="en-US" dirty="0">
                <a:solidFill>
                  <a:schemeClr val="tx1"/>
                </a:solidFill>
                <a:latin typeface="DFKai-SB" panose="03000509000000000000" pitchFamily="65" charset="-120"/>
                <a:ea typeface="DFKai-SB" panose="03000509000000000000" pitchFamily="65" charset="-120"/>
              </a:rPr>
              <a:t>：世界第一汽車銷售大國名副其實。</a:t>
            </a:r>
            <a:r>
              <a:rPr lang="en-US" altLang="zh-TW" dirty="0">
                <a:solidFill>
                  <a:schemeClr val="tx1"/>
                </a:solidFill>
                <a:latin typeface="DFKai-SB" panose="03000509000000000000" pitchFamily="65" charset="-120"/>
                <a:ea typeface="DFKai-SB" panose="03000509000000000000" pitchFamily="65" charset="-120"/>
              </a:rPr>
              <a:t>C</a:t>
            </a:r>
            <a:r>
              <a:rPr lang="zh-TW" altLang="en-US" dirty="0">
                <a:solidFill>
                  <a:schemeClr val="tx1"/>
                </a:solidFill>
                <a:latin typeface="DFKai-SB" panose="03000509000000000000" pitchFamily="65" charset="-120"/>
                <a:ea typeface="DFKai-SB" panose="03000509000000000000" pitchFamily="65" charset="-120"/>
              </a:rPr>
              <a:t>：像這部電影這麼刁的還有六部。</a:t>
            </a:r>
            <a:endParaRPr lang="en-US" altLang="zh-TW" dirty="0">
              <a:solidFill>
                <a:schemeClr val="tx1"/>
              </a:solidFill>
              <a:latin typeface="DFKai-SB" panose="03000509000000000000" pitchFamily="65" charset="-120"/>
              <a:ea typeface="DFKai-SB" panose="03000509000000000000" pitchFamily="65" charset="-120"/>
            </a:endParaRPr>
          </a:p>
          <a:p>
            <a:r>
              <a:rPr lang="en-US" altLang="zh-TW" dirty="0">
                <a:solidFill>
                  <a:schemeClr val="tx1"/>
                </a:solidFill>
                <a:latin typeface="DFKai-SB" panose="03000509000000000000" pitchFamily="65" charset="-120"/>
                <a:ea typeface="DFKai-SB" panose="03000509000000000000" pitchFamily="65" charset="-120"/>
              </a:rPr>
              <a:t>}</a:t>
            </a:r>
          </a:p>
          <a:p>
            <a:pPr algn="ctr"/>
            <a:endParaRPr lang="zh-TW" altLang="en-US" dirty="0">
              <a:solidFill>
                <a:schemeClr val="tx1"/>
              </a:solidFill>
            </a:endParaRPr>
          </a:p>
        </p:txBody>
      </p:sp>
    </p:spTree>
    <p:extLst>
      <p:ext uri="{BB962C8B-B14F-4D97-AF65-F5344CB8AC3E}">
        <p14:creationId xmlns:p14="http://schemas.microsoft.com/office/powerpoint/2010/main" val="1906645229"/>
      </p:ext>
    </p:extLst>
  </p:cSld>
  <p:clrMapOvr>
    <a:masterClrMapping/>
  </p:clrMapOvr>
  <mc:AlternateContent xmlns:mc="http://schemas.openxmlformats.org/markup-compatibility/2006">
    <mc:Choice xmlns:p14="http://schemas.microsoft.com/office/powerpoint/2010/main" Requires="p14">
      <p:transition spd="slow" p14:dur="2000" advTm="6506"/>
    </mc:Choice>
    <mc:Fallback>
      <p:transition spd="slow" advTm="650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351E736C-1E7D-71E9-5D99-687B338B9F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E8758FBB-0766-4827-0FD9-C88340D962CE}"/>
              </a:ext>
            </a:extLst>
          </p:cNvPr>
          <p:cNvSpPr>
            <a:spLocks noGrp="1"/>
          </p:cNvSpPr>
          <p:nvPr>
            <p:ph type="title"/>
          </p:nvPr>
        </p:nvSpPr>
        <p:spPr/>
        <p:txBody>
          <a:bodyPr>
            <a:noAutofit/>
          </a:bodyPr>
          <a:lstStyle/>
          <a:p>
            <a:pPr algn="ctr"/>
            <a: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t>資料清洗</a:t>
            </a:r>
            <a:b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p:sp>
        <p:nvSpPr>
          <p:cNvPr id="3" name="內容版面配置區 2">
            <a:extLst>
              <a:ext uri="{FF2B5EF4-FFF2-40B4-BE49-F238E27FC236}">
                <a16:creationId xmlns:a16="http://schemas.microsoft.com/office/drawing/2014/main" id="{72456BEA-AF4A-E893-9065-C9B80545DB90}"/>
              </a:ext>
            </a:extLst>
          </p:cNvPr>
          <p:cNvSpPr>
            <a:spLocks noGrp="1"/>
          </p:cNvSpPr>
          <p:nvPr>
            <p:ph idx="1"/>
          </p:nvPr>
        </p:nvSpPr>
        <p:spPr>
          <a:xfrm>
            <a:off x="911652" y="2221992"/>
            <a:ext cx="4140995" cy="3739896"/>
          </a:xfrm>
        </p:spPr>
        <p:txBody>
          <a:bodyPr/>
          <a:lstStyle/>
          <a:p>
            <a:pPr marL="0" indent="0">
              <a:buNone/>
            </a:pP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基於情緒詞彙字典來挑選出包含情緒字眼的評論，將句子中符合字典詞彙的將排到資料最前列，</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以</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提高人工標註效率</a:t>
            </a:r>
            <a:r>
              <a:rPr lang="zh-TW" altLang="en-US" sz="2400" dirty="0">
                <a:effectLst/>
                <a:latin typeface="DFKai-SB" panose="03000509000000000000" pitchFamily="65" charset="-120"/>
                <a:ea typeface="DFKai-SB" panose="03000509000000000000" pitchFamily="65" charset="-120"/>
                <a:cs typeface="Times New Roman" panose="02020603050405020304" pitchFamily="18" charset="0"/>
              </a:rPr>
              <a:t>，同時也讓語言模型預測得更好</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a:t>
            </a:r>
          </a:p>
          <a:p>
            <a:endParaRPr lang="zh-TW" altLang="en-US" dirty="0"/>
          </a:p>
        </p:txBody>
      </p:sp>
      <p:sp>
        <p:nvSpPr>
          <p:cNvPr id="5" name="文字方塊 4">
            <a:extLst>
              <a:ext uri="{FF2B5EF4-FFF2-40B4-BE49-F238E27FC236}">
                <a16:creationId xmlns:a16="http://schemas.microsoft.com/office/drawing/2014/main" id="{08E60DE7-B823-96C1-D83D-ADA7B708712E}"/>
              </a:ext>
            </a:extLst>
          </p:cNvPr>
          <p:cNvSpPr txBox="1"/>
          <p:nvPr/>
        </p:nvSpPr>
        <p:spPr>
          <a:xfrm>
            <a:off x="5591906" y="2221992"/>
            <a:ext cx="5427785" cy="4247317"/>
          </a:xfrm>
          <a:prstGeom prst="rect">
            <a:avLst/>
          </a:prstGeom>
          <a:noFill/>
        </p:spPr>
        <p:txBody>
          <a:bodyPr wrap="square" rtlCol="0">
            <a:spAutoFit/>
          </a:bodyPr>
          <a:lstStyle/>
          <a:p>
            <a:r>
              <a:rPr lang="zh-TW" altLang="en-US" sz="2200" dirty="0">
                <a:latin typeface="DFKai-SB" panose="03000509000000000000" pitchFamily="65" charset="-120"/>
                <a:ea typeface="DFKai-SB" panose="03000509000000000000" pitchFamily="65" charset="-120"/>
                <a:cs typeface="Times New Roman" panose="02020603050405020304" pitchFamily="18" charset="0"/>
              </a:rPr>
              <a:t>例如</a:t>
            </a:r>
            <a:r>
              <a:rPr lang="en-US" altLang="zh-TW" sz="2200" dirty="0">
                <a:latin typeface="DFKai-SB" panose="03000509000000000000" pitchFamily="65" charset="-120"/>
                <a:ea typeface="DFKai-SB" panose="03000509000000000000" pitchFamily="65" charset="-120"/>
                <a:cs typeface="Times New Roman" panose="02020603050405020304" pitchFamily="18" charset="0"/>
              </a:rPr>
              <a:t>:</a:t>
            </a:r>
          </a:p>
          <a:p>
            <a:r>
              <a:rPr lang="en-US" altLang="zh-TW" sz="2200" dirty="0">
                <a:latin typeface="DFKai-SB" panose="03000509000000000000" pitchFamily="65" charset="-120"/>
                <a:ea typeface="DFKai-SB" panose="03000509000000000000" pitchFamily="65" charset="-120"/>
              </a:rPr>
              <a:t>“</a:t>
            </a:r>
            <a:r>
              <a:rPr lang="en-US" altLang="zh-TW" sz="2200" dirty="0" err="1">
                <a:latin typeface="DFKai-SB" panose="03000509000000000000" pitchFamily="65" charset="-120"/>
                <a:ea typeface="DFKai-SB" panose="03000509000000000000" pitchFamily="65" charset="-120"/>
              </a:rPr>
              <a:t>joy_words</a:t>
            </a:r>
            <a:r>
              <a:rPr lang="en-US" altLang="zh-TW" sz="2200" dirty="0">
                <a:latin typeface="DFKai-SB" panose="03000509000000000000" pitchFamily="65" charset="-120"/>
                <a:ea typeface="DFKai-SB" panose="03000509000000000000" pitchFamily="65" charset="-120"/>
              </a:rPr>
              <a:t>”</a:t>
            </a:r>
            <a:r>
              <a:rPr lang="zh-TW" altLang="en-US" sz="2200" dirty="0">
                <a:latin typeface="DFKai-SB" panose="03000509000000000000" pitchFamily="65" charset="-120"/>
                <a:ea typeface="DFKai-SB" panose="03000509000000000000" pitchFamily="65" charset="-120"/>
              </a:rPr>
              <a:t>字典</a:t>
            </a:r>
            <a:r>
              <a:rPr lang="en-US" altLang="zh-TW" sz="2200" dirty="0">
                <a:latin typeface="DFKai-SB" panose="03000509000000000000" pitchFamily="65" charset="-120"/>
                <a:ea typeface="DFKai-SB" panose="03000509000000000000" pitchFamily="65" charset="-120"/>
              </a:rPr>
              <a:t>{</a:t>
            </a:r>
            <a:r>
              <a:rPr lang="zh-TW" altLang="en-US" sz="2200" dirty="0">
                <a:latin typeface="DFKai-SB" panose="03000509000000000000" pitchFamily="65" charset="-120"/>
                <a:ea typeface="DFKai-SB" panose="03000509000000000000" pitchFamily="65" charset="-120"/>
              </a:rPr>
              <a:t>開心</a:t>
            </a:r>
            <a:r>
              <a:rPr lang="en-US" altLang="zh-TW" sz="2200" dirty="0">
                <a:latin typeface="DFKai-SB" panose="03000509000000000000" pitchFamily="65" charset="-120"/>
                <a:ea typeface="DFKai-SB" panose="03000509000000000000" pitchFamily="65" charset="-120"/>
              </a:rPr>
              <a:t>,</a:t>
            </a:r>
            <a:r>
              <a:rPr lang="zh-TW" altLang="en-US" sz="2200" dirty="0">
                <a:latin typeface="DFKai-SB" panose="03000509000000000000" pitchFamily="65" charset="-120"/>
                <a:ea typeface="DFKai-SB" panose="03000509000000000000" pitchFamily="65" charset="-120"/>
              </a:rPr>
              <a:t>快樂</a:t>
            </a:r>
            <a:r>
              <a:rPr lang="en-US" altLang="zh-TW" sz="2200" dirty="0">
                <a:latin typeface="DFKai-SB" panose="03000509000000000000" pitchFamily="65" charset="-120"/>
                <a:ea typeface="DFKai-SB" panose="03000509000000000000" pitchFamily="65" charset="-120"/>
              </a:rPr>
              <a:t>,</a:t>
            </a:r>
            <a:r>
              <a:rPr lang="zh-TW" altLang="en-US" sz="2200" dirty="0">
                <a:latin typeface="DFKai-SB" panose="03000509000000000000" pitchFamily="65" charset="-120"/>
                <a:ea typeface="DFKai-SB" panose="03000509000000000000" pitchFamily="65" charset="-120"/>
              </a:rPr>
              <a:t>哈哈大笑</a:t>
            </a:r>
            <a:r>
              <a:rPr lang="en-US" altLang="zh-TW" sz="2200" dirty="0">
                <a:latin typeface="DFKai-SB" panose="03000509000000000000" pitchFamily="65" charset="-120"/>
                <a:ea typeface="DFKai-SB" panose="03000509000000000000" pitchFamily="65" charset="-120"/>
              </a:rPr>
              <a:t>}</a:t>
            </a:r>
          </a:p>
          <a:p>
            <a:r>
              <a:rPr lang="zh-TW" altLang="en-US" sz="2200" dirty="0">
                <a:latin typeface="DFKai-SB" panose="03000509000000000000" pitchFamily="65" charset="-120"/>
                <a:ea typeface="DFKai-SB" panose="03000509000000000000" pitchFamily="65" charset="-120"/>
              </a:rPr>
              <a:t>句子</a:t>
            </a:r>
            <a:r>
              <a:rPr lang="en-US" altLang="zh-TW" sz="2200" dirty="0">
                <a:latin typeface="DFKai-SB" panose="03000509000000000000" pitchFamily="65" charset="-120"/>
                <a:ea typeface="DFKai-SB" panose="03000509000000000000" pitchFamily="65" charset="-120"/>
              </a:rPr>
              <a:t>:</a:t>
            </a:r>
            <a:r>
              <a:rPr lang="zh-TW" altLang="en-US" sz="2200" dirty="0">
                <a:latin typeface="DFKai-SB" panose="03000509000000000000" pitchFamily="65" charset="-120"/>
                <a:ea typeface="DFKai-SB" panose="03000509000000000000" pitchFamily="65" charset="-120"/>
              </a:rPr>
              <a:t> 我開心地哈哈大笑</a:t>
            </a:r>
            <a:endParaRPr lang="en-US" altLang="zh-TW" sz="2200" dirty="0">
              <a:latin typeface="DFKai-SB" panose="03000509000000000000" pitchFamily="65" charset="-120"/>
              <a:ea typeface="DFKai-SB" panose="03000509000000000000" pitchFamily="65" charset="-120"/>
            </a:endParaRPr>
          </a:p>
          <a:p>
            <a:r>
              <a:rPr lang="zh-TW" altLang="en-US" sz="2200" dirty="0">
                <a:latin typeface="DFKai-SB" panose="03000509000000000000" pitchFamily="65" charset="-120"/>
                <a:ea typeface="DFKai-SB" panose="03000509000000000000" pitchFamily="65" charset="-120"/>
              </a:rPr>
              <a:t>統計</a:t>
            </a:r>
            <a:r>
              <a:rPr lang="en-US" altLang="zh-TW" sz="2200" dirty="0">
                <a:latin typeface="DFKai-SB" panose="03000509000000000000" pitchFamily="65" charset="-120"/>
                <a:ea typeface="DFKai-SB" panose="03000509000000000000" pitchFamily="65" charset="-120"/>
              </a:rPr>
              <a:t>:“joy_words”:2</a:t>
            </a:r>
          </a:p>
          <a:p>
            <a:endParaRPr lang="en-US" altLang="zh-TW" sz="2200" dirty="0">
              <a:latin typeface="DFKai-SB" panose="03000509000000000000" pitchFamily="65" charset="-120"/>
              <a:ea typeface="DFKai-SB" panose="03000509000000000000" pitchFamily="65" charset="-120"/>
            </a:endParaRPr>
          </a:p>
          <a:p>
            <a:r>
              <a:rPr lang="zh-TW" altLang="en-US" sz="2400" dirty="0">
                <a:effectLst/>
                <a:latin typeface="DFKai-SB" panose="03000509000000000000" pitchFamily="65" charset="-120"/>
                <a:ea typeface="DFKai-SB" panose="03000509000000000000" pitchFamily="65" charset="-120"/>
                <a:cs typeface="Times New Roman" panose="02020603050405020304" pitchFamily="18" charset="0"/>
              </a:rPr>
              <a:t>以此方法</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統計出五個情緒的字眼數量，再依照</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joy,</a:t>
            </a:r>
            <a:r>
              <a:rPr lang="zh-TW" altLang="en-US" sz="2400" dirty="0">
                <a:effectLst/>
                <a:latin typeface="DFKai-SB" panose="03000509000000000000" pitchFamily="65" charset="-120"/>
                <a:ea typeface="DFKai-SB" panose="03000509000000000000" pitchFamily="65" charset="-120"/>
                <a:cs typeface="Times New Roman" panose="02020603050405020304" pitchFamily="18" charset="0"/>
              </a:rPr>
              <a:t> </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sadness, anger, fear, disgust</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的順序以</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round robin</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排序句子。</a:t>
            </a:r>
            <a:r>
              <a:rPr lang="zh-TW" altLang="zh-TW" sz="2400" dirty="0">
                <a:effectLst/>
                <a:latin typeface="Calibri Light" panose="020F0302020204030204" pitchFamily="34" charset="0"/>
                <a:ea typeface="DFKai-SB" panose="03000509000000000000" pitchFamily="65" charset="-120"/>
                <a:cs typeface="Calibri Light" panose="020F0302020204030204" pitchFamily="34" charset="0"/>
              </a:rPr>
              <a:t>如此一來，保證同一部電影五種情緒的句子都會被標記</a:t>
            </a:r>
            <a:endParaRPr lang="zh-TW" altLang="zh-TW" sz="2400" dirty="0">
              <a:effectLst/>
              <a:latin typeface="DFKai-SB" panose="03000509000000000000" pitchFamily="65" charset="-120"/>
              <a:ea typeface="DFKai-SB" panose="03000509000000000000" pitchFamily="65" charset="-120"/>
              <a:cs typeface="Times New Roman" panose="02020603050405020304" pitchFamily="18" charset="0"/>
            </a:endParaRPr>
          </a:p>
          <a:p>
            <a:endParaRPr lang="en-US" altLang="zh-TW" sz="2200" dirty="0">
              <a:latin typeface="DFKai-SB" panose="03000509000000000000" pitchFamily="65" charset="-120"/>
              <a:ea typeface="DFKai-SB" panose="03000509000000000000" pitchFamily="65" charset="-120"/>
            </a:endParaRPr>
          </a:p>
          <a:p>
            <a:endParaRPr lang="en-US" altLang="zh-TW" dirty="0"/>
          </a:p>
        </p:txBody>
      </p:sp>
      <p:sp>
        <p:nvSpPr>
          <p:cNvPr id="6" name="投影片編號版面配置區 5">
            <a:extLst>
              <a:ext uri="{FF2B5EF4-FFF2-40B4-BE49-F238E27FC236}">
                <a16:creationId xmlns:a16="http://schemas.microsoft.com/office/drawing/2014/main" id="{C3D061F6-5B3E-2482-4049-202DB4D3D785}"/>
              </a:ext>
            </a:extLst>
          </p:cNvPr>
          <p:cNvSpPr>
            <a:spLocks noGrp="1"/>
          </p:cNvSpPr>
          <p:nvPr>
            <p:ph type="sldNum" sz="quarter" idx="12"/>
          </p:nvPr>
        </p:nvSpPr>
        <p:spPr/>
        <p:txBody>
          <a:bodyPr/>
          <a:lstStyle/>
          <a:p>
            <a:fld id="{87E7843D-FF13-4365-9478-9625B70A2705}" type="slidenum">
              <a:rPr lang="en-US" smtClean="0"/>
              <a:t>6</a:t>
            </a:fld>
            <a:endParaRPr lang="en-US"/>
          </a:p>
        </p:txBody>
      </p:sp>
    </p:spTree>
    <p:extLst>
      <p:ext uri="{BB962C8B-B14F-4D97-AF65-F5344CB8AC3E}">
        <p14:creationId xmlns:p14="http://schemas.microsoft.com/office/powerpoint/2010/main" val="1222449228"/>
      </p:ext>
    </p:extLst>
  </p:cSld>
  <p:clrMapOvr>
    <a:masterClrMapping/>
  </p:clrMapOvr>
  <mc:AlternateContent xmlns:mc="http://schemas.openxmlformats.org/markup-compatibility/2006">
    <mc:Choice xmlns:p14="http://schemas.microsoft.com/office/powerpoint/2010/main" Requires="p14">
      <p:transition spd="slow" p14:dur="2000" advTm="16434"/>
    </mc:Choice>
    <mc:Fallback>
      <p:transition spd="slow" advTm="1643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简约小清新莫兰迪色系ppt背景-背景-爱西西">
            <a:extLst>
              <a:ext uri="{FF2B5EF4-FFF2-40B4-BE49-F238E27FC236}">
                <a16:creationId xmlns:a16="http://schemas.microsoft.com/office/drawing/2014/main" id="{EC3B65F8-228C-437F-BFED-A28C67BEC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774AD111-8B4D-1A53-B826-119F30EAAD8C}"/>
              </a:ext>
            </a:extLst>
          </p:cNvPr>
          <p:cNvSpPr>
            <a:spLocks noGrp="1"/>
          </p:cNvSpPr>
          <p:nvPr>
            <p:ph type="title"/>
          </p:nvPr>
        </p:nvSpPr>
        <p:spPr/>
        <p:txBody>
          <a:bodyPr>
            <a:noAutofit/>
          </a:bodyPr>
          <a:lstStyle/>
          <a:p>
            <a:pPr algn="ctr"/>
            <a: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t>斷詞斷句處理</a:t>
            </a:r>
            <a:b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p:sp>
        <p:nvSpPr>
          <p:cNvPr id="3" name="內容版面配置區 2">
            <a:extLst>
              <a:ext uri="{FF2B5EF4-FFF2-40B4-BE49-F238E27FC236}">
                <a16:creationId xmlns:a16="http://schemas.microsoft.com/office/drawing/2014/main" id="{ABBE460C-440E-22DD-70C1-3F9931B8E381}"/>
              </a:ext>
            </a:extLst>
          </p:cNvPr>
          <p:cNvSpPr>
            <a:spLocks noGrp="1"/>
          </p:cNvSpPr>
          <p:nvPr>
            <p:ph idx="1"/>
          </p:nvPr>
        </p:nvSpPr>
        <p:spPr>
          <a:xfrm>
            <a:off x="700635" y="1644265"/>
            <a:ext cx="5031950" cy="4156534"/>
          </a:xfrm>
        </p:spPr>
        <p:txBody>
          <a:bodyPr>
            <a:normAutofit fontScale="92500" lnSpcReduction="10000"/>
          </a:bodyPr>
          <a:lstStyle/>
          <a:p>
            <a:pPr marL="0" indent="0">
              <a:buNone/>
            </a:pPr>
            <a:r>
              <a:rPr lang="zh-TW" altLang="en-US" sz="1900" dirty="0">
                <a:effectLst/>
                <a:latin typeface="DFKai-SB" panose="03000509000000000000" pitchFamily="65" charset="-120"/>
                <a:ea typeface="DFKai-SB" panose="03000509000000000000" pitchFamily="65" charset="-120"/>
                <a:cs typeface="Times New Roman" panose="02020603050405020304" pitchFamily="18" charset="0"/>
              </a:rPr>
              <a:t>斷句</a:t>
            </a:r>
            <a:r>
              <a:rPr lang="en-US" altLang="zh-TW" sz="1900" dirty="0">
                <a:effectLst/>
                <a:latin typeface="DFKai-SB" panose="03000509000000000000" pitchFamily="65" charset="-120"/>
                <a:ea typeface="DFKai-SB" panose="03000509000000000000" pitchFamily="65" charset="-120"/>
                <a:cs typeface="Times New Roman" panose="02020603050405020304" pitchFamily="18" charset="0"/>
              </a:rPr>
              <a:t>:</a:t>
            </a:r>
          </a:p>
          <a:p>
            <a:pPr marL="0" indent="0">
              <a:buNone/>
            </a:pPr>
            <a:r>
              <a:rPr lang="zh-TW" altLang="zh-TW" sz="1900" dirty="0">
                <a:effectLst/>
                <a:latin typeface="DFKai-SB" panose="03000509000000000000" pitchFamily="65" charset="-120"/>
                <a:ea typeface="DFKai-SB" panose="03000509000000000000" pitchFamily="65" charset="-120"/>
                <a:cs typeface="Times New Roman" panose="02020603050405020304" pitchFamily="18" charset="0"/>
              </a:rPr>
              <a:t>為了避免</a:t>
            </a:r>
            <a:r>
              <a:rPr lang="en-US" altLang="zh-TW" sz="1900" dirty="0" err="1">
                <a:effectLst/>
                <a:latin typeface="DFKai-SB" panose="03000509000000000000" pitchFamily="65" charset="-120"/>
                <a:ea typeface="DFKai-SB" panose="03000509000000000000" pitchFamily="65" charset="-120"/>
                <a:cs typeface="Times New Roman" panose="02020603050405020304" pitchFamily="18" charset="0"/>
              </a:rPr>
              <a:t>bert</a:t>
            </a:r>
            <a:r>
              <a:rPr lang="zh-TW" altLang="en-US" sz="1900" dirty="0">
                <a:effectLst/>
                <a:latin typeface="DFKai-SB" panose="03000509000000000000" pitchFamily="65" charset="-120"/>
                <a:ea typeface="DFKai-SB" panose="03000509000000000000" pitchFamily="65" charset="-120"/>
                <a:cs typeface="Times New Roman" panose="02020603050405020304" pitchFamily="18" charset="0"/>
              </a:rPr>
              <a:t>語言</a:t>
            </a:r>
            <a:r>
              <a:rPr lang="zh-TW" altLang="zh-TW" sz="1900" dirty="0">
                <a:effectLst/>
                <a:latin typeface="DFKai-SB" panose="03000509000000000000" pitchFamily="65" charset="-120"/>
                <a:ea typeface="DFKai-SB" panose="03000509000000000000" pitchFamily="65" charset="-120"/>
                <a:cs typeface="Times New Roman" panose="02020603050405020304" pitchFamily="18" charset="0"/>
              </a:rPr>
              <a:t>模型訓練時超過最大長度限制，</a:t>
            </a:r>
            <a:endParaRPr lang="en-US" altLang="zh-TW" sz="1900" dirty="0">
              <a:effectLst/>
              <a:latin typeface="DFKai-SB" panose="03000509000000000000" pitchFamily="65" charset="-120"/>
              <a:ea typeface="DFKai-SB" panose="03000509000000000000" pitchFamily="65" charset="-120"/>
              <a:cs typeface="Times New Roman" panose="02020603050405020304" pitchFamily="18" charset="0"/>
            </a:endParaRPr>
          </a:p>
          <a:p>
            <a:pPr marL="0" indent="0">
              <a:buNone/>
            </a:pPr>
            <a:r>
              <a:rPr lang="zh-TW" altLang="en-US" sz="1900" dirty="0">
                <a:latin typeface="DFKai-SB" panose="03000509000000000000" pitchFamily="65" charset="-120"/>
                <a:ea typeface="DFKai-SB" panose="03000509000000000000" pitchFamily="65" charset="-120"/>
                <a:cs typeface="Times New Roman" panose="02020603050405020304" pitchFamily="18" charset="0"/>
              </a:rPr>
              <a:t>過長的句子以</a:t>
            </a:r>
            <a:r>
              <a:rPr lang="zh-TW" altLang="en-US" sz="1900" u="sng" dirty="0">
                <a:latin typeface="DFKai-SB" panose="03000509000000000000" pitchFamily="65" charset="-120"/>
                <a:ea typeface="DFKai-SB" panose="03000509000000000000" pitchFamily="65" charset="-120"/>
                <a:cs typeface="Times New Roman" panose="02020603050405020304" pitchFamily="18" charset="0"/>
              </a:rPr>
              <a:t>。</a:t>
            </a:r>
            <a:r>
              <a:rPr lang="en-US" altLang="zh-TW" sz="1900" u="sng" dirty="0">
                <a:latin typeface="DFKai-SB" panose="03000509000000000000" pitchFamily="65" charset="-120"/>
                <a:ea typeface="DFKai-SB" panose="03000509000000000000" pitchFamily="65" charset="-120"/>
                <a:cs typeface="Times New Roman" panose="02020603050405020304" pitchFamily="18" charset="0"/>
              </a:rPr>
              <a:t>?!</a:t>
            </a:r>
            <a:r>
              <a:rPr lang="zh-TW" altLang="en-US" sz="1900" u="sng" dirty="0">
                <a:latin typeface="DFKai-SB" panose="03000509000000000000" pitchFamily="65" charset="-120"/>
                <a:ea typeface="DFKai-SB" panose="03000509000000000000" pitchFamily="65" charset="-120"/>
                <a:cs typeface="Times New Roman" panose="02020603050405020304" pitchFamily="18" charset="0"/>
              </a:rPr>
              <a:t> </a:t>
            </a:r>
            <a:r>
              <a:rPr lang="zh-TW" altLang="en-US" sz="1900" dirty="0">
                <a:latin typeface="DFKai-SB" panose="03000509000000000000" pitchFamily="65" charset="-120"/>
                <a:ea typeface="DFKai-SB" panose="03000509000000000000" pitchFamily="65" charset="-120"/>
                <a:cs typeface="Times New Roman" panose="02020603050405020304" pitchFamily="18" charset="0"/>
              </a:rPr>
              <a:t>斷句，若還是太長再以，</a:t>
            </a:r>
            <a:r>
              <a:rPr lang="en-US" altLang="zh-TW" sz="1900" dirty="0">
                <a:latin typeface="DFKai-SB" panose="03000509000000000000" pitchFamily="65" charset="-120"/>
                <a:ea typeface="DFKai-SB" panose="03000509000000000000" pitchFamily="65" charset="-120"/>
                <a:cs typeface="Times New Roman" panose="02020603050405020304" pitchFamily="18" charset="0"/>
              </a:rPr>
              <a:t>:;</a:t>
            </a:r>
            <a:r>
              <a:rPr lang="zh-TW" altLang="en-US" sz="1900" dirty="0">
                <a:latin typeface="DFKai-SB" panose="03000509000000000000" pitchFamily="65" charset="-120"/>
                <a:ea typeface="DFKai-SB" panose="03000509000000000000" pitchFamily="65" charset="-120"/>
                <a:cs typeface="Times New Roman" panose="02020603050405020304" pitchFamily="18" charset="0"/>
              </a:rPr>
              <a:t>斷句，並且把每句分句編號。</a:t>
            </a:r>
            <a:endParaRPr lang="en-US" altLang="zh-TW" sz="1900" dirty="0">
              <a:latin typeface="DFKai-SB" panose="03000509000000000000" pitchFamily="65" charset="-120"/>
              <a:ea typeface="DFKai-SB" panose="03000509000000000000" pitchFamily="65" charset="-120"/>
              <a:cs typeface="Times New Roman" panose="02020603050405020304" pitchFamily="18" charset="0"/>
            </a:endParaRPr>
          </a:p>
          <a:p>
            <a:pPr marL="0" indent="0">
              <a:buNone/>
            </a:pPr>
            <a:r>
              <a:rPr lang="zh-TW" altLang="en-US" sz="1900" dirty="0">
                <a:latin typeface="DFKai-SB" panose="03000509000000000000" pitchFamily="65" charset="-120"/>
                <a:ea typeface="DFKai-SB" panose="03000509000000000000" pitchFamily="65" charset="-120"/>
                <a:cs typeface="Times New Roman" panose="02020603050405020304" pitchFamily="18" charset="0"/>
              </a:rPr>
              <a:t>原句</a:t>
            </a:r>
            <a:r>
              <a:rPr lang="en-US" altLang="zh-TW" sz="1900" dirty="0">
                <a:latin typeface="DFKai-SB" panose="03000509000000000000" pitchFamily="65" charset="-120"/>
                <a:ea typeface="DFKai-SB" panose="03000509000000000000" pitchFamily="65" charset="-120"/>
                <a:cs typeface="Times New Roman" panose="02020603050405020304" pitchFamily="18" charset="0"/>
              </a:rPr>
              <a:t>: </a:t>
            </a:r>
          </a:p>
          <a:p>
            <a:pPr marL="0" indent="0">
              <a:buNone/>
            </a:pPr>
            <a:r>
              <a:rPr lang="en-US" altLang="zh-TW" sz="1900" u="sng" dirty="0">
                <a:latin typeface="DFKai-SB" panose="03000509000000000000" pitchFamily="65" charset="-120"/>
                <a:ea typeface="DFKai-SB" panose="03000509000000000000" pitchFamily="65" charset="-120"/>
                <a:cs typeface="Times New Roman" panose="02020603050405020304" pitchFamily="18" charset="0"/>
              </a:rPr>
              <a:t>"</a:t>
            </a:r>
            <a:r>
              <a:rPr lang="zh-TW" altLang="en-US" sz="1900" u="sng" dirty="0">
                <a:latin typeface="DFKai-SB" panose="03000509000000000000" pitchFamily="65" charset="-120"/>
                <a:ea typeface="DFKai-SB" panose="03000509000000000000" pitchFamily="65" charset="-120"/>
                <a:cs typeface="Times New Roman" panose="02020603050405020304" pitchFamily="18" charset="0"/>
              </a:rPr>
              <a:t>感覺現在只能劇本寫成哥哥去處理國際事務，妹妹接黑豹</a:t>
            </a:r>
            <a:r>
              <a:rPr lang="en-US" altLang="zh-TW" sz="1900" u="sng" dirty="0">
                <a:latin typeface="DFKai-SB" panose="03000509000000000000" pitchFamily="65" charset="-120"/>
                <a:ea typeface="DFKai-SB" panose="03000509000000000000" pitchFamily="65" charset="-120"/>
                <a:cs typeface="Times New Roman" panose="02020603050405020304" pitchFamily="18" charset="0"/>
              </a:rPr>
              <a:t>"</a:t>
            </a:r>
          </a:p>
          <a:p>
            <a:pPr marL="0" indent="0">
              <a:buNone/>
            </a:pPr>
            <a:r>
              <a:rPr lang="zh-TW" altLang="en-US" sz="1900" dirty="0">
                <a:latin typeface="DFKai-SB" panose="03000509000000000000" pitchFamily="65" charset="-120"/>
                <a:ea typeface="DFKai-SB" panose="03000509000000000000" pitchFamily="65" charset="-120"/>
                <a:cs typeface="Times New Roman" panose="02020603050405020304" pitchFamily="18" charset="0"/>
              </a:rPr>
              <a:t>斷句後</a:t>
            </a:r>
            <a:r>
              <a:rPr lang="en-US" altLang="zh-TW" sz="1900" dirty="0">
                <a:latin typeface="DFKai-SB" panose="03000509000000000000" pitchFamily="65" charset="-120"/>
                <a:ea typeface="DFKai-SB" panose="03000509000000000000" pitchFamily="65" charset="-120"/>
                <a:cs typeface="Times New Roman" panose="02020603050405020304" pitchFamily="18" charset="0"/>
              </a:rPr>
              <a:t>:</a:t>
            </a:r>
          </a:p>
          <a:p>
            <a:pPr marL="0" indent="0">
              <a:buNone/>
            </a:pPr>
            <a:r>
              <a:rPr lang="en-US" altLang="zh-TW" sz="1900" u="sng" dirty="0">
                <a:latin typeface="DFKai-SB" panose="03000509000000000000" pitchFamily="65" charset="-120"/>
                <a:ea typeface="DFKai-SB" panose="03000509000000000000" pitchFamily="65" charset="-120"/>
                <a:cs typeface="Times New Roman" panose="02020603050405020304" pitchFamily="18" charset="0"/>
              </a:rPr>
              <a:t>" M003_P1_C2_1:</a:t>
            </a:r>
            <a:r>
              <a:rPr lang="zh-TW" altLang="en-US" sz="1900" u="sng" dirty="0">
                <a:latin typeface="DFKai-SB" panose="03000509000000000000" pitchFamily="65" charset="-120"/>
                <a:ea typeface="DFKai-SB" panose="03000509000000000000" pitchFamily="65" charset="-120"/>
                <a:cs typeface="Times New Roman" panose="02020603050405020304" pitchFamily="18" charset="0"/>
              </a:rPr>
              <a:t>感覺現在只能劇本寫成哥哥去處理國際事務</a:t>
            </a:r>
            <a:r>
              <a:rPr lang="en-US" altLang="zh-TW" sz="1900" u="sng" dirty="0">
                <a:latin typeface="DFKai-SB" panose="03000509000000000000" pitchFamily="65" charset="-120"/>
                <a:ea typeface="DFKai-SB" panose="03000509000000000000" pitchFamily="65" charset="-120"/>
                <a:cs typeface="Times New Roman" panose="02020603050405020304" pitchFamily="18" charset="0"/>
              </a:rPr>
              <a:t>"</a:t>
            </a:r>
          </a:p>
          <a:p>
            <a:pPr marL="0" indent="0">
              <a:buNone/>
            </a:pPr>
            <a:r>
              <a:rPr lang="en-US" altLang="zh-TW" sz="1900" u="sng" dirty="0">
                <a:latin typeface="DFKai-SB" panose="03000509000000000000" pitchFamily="65" charset="-120"/>
                <a:ea typeface="DFKai-SB" panose="03000509000000000000" pitchFamily="65" charset="-120"/>
                <a:cs typeface="Times New Roman" panose="02020603050405020304" pitchFamily="18" charset="0"/>
              </a:rPr>
              <a:t>" M003_P1_C2_2:</a:t>
            </a:r>
            <a:r>
              <a:rPr lang="zh-TW" altLang="en-US" sz="1900" u="sng" dirty="0">
                <a:latin typeface="DFKai-SB" panose="03000509000000000000" pitchFamily="65" charset="-120"/>
                <a:ea typeface="DFKai-SB" panose="03000509000000000000" pitchFamily="65" charset="-120"/>
                <a:cs typeface="Times New Roman" panose="02020603050405020304" pitchFamily="18" charset="0"/>
              </a:rPr>
              <a:t>妹妹接黑豹 </a:t>
            </a:r>
            <a:r>
              <a:rPr lang="en-US" altLang="zh-TW" sz="1900" u="sng" dirty="0">
                <a:latin typeface="DFKai-SB" panose="03000509000000000000" pitchFamily="65" charset="-120"/>
                <a:ea typeface="DFKai-SB" panose="03000509000000000000" pitchFamily="65" charset="-120"/>
                <a:cs typeface="Times New Roman" panose="02020603050405020304" pitchFamily="18" charset="0"/>
              </a:rPr>
              <a:t>"</a:t>
            </a:r>
          </a:p>
          <a:p>
            <a:pPr marL="0" indent="0">
              <a:buNone/>
            </a:pPr>
            <a:endParaRPr lang="en-US" altLang="zh-TW" sz="1800" u="sng" dirty="0">
              <a:latin typeface="DFKai-SB" panose="03000509000000000000" pitchFamily="65" charset="-120"/>
              <a:ea typeface="DFKai-SB" panose="03000509000000000000" pitchFamily="65" charset="-120"/>
              <a:cs typeface="Times New Roman" panose="02020603050405020304" pitchFamily="18" charset="0"/>
            </a:endParaRPr>
          </a:p>
          <a:p>
            <a:pPr marL="0" indent="0">
              <a:buNone/>
            </a:pPr>
            <a:endParaRPr lang="en-US" altLang="zh-TW" sz="1800" u="sng" dirty="0">
              <a:latin typeface="DFKai-SB" panose="03000509000000000000" pitchFamily="65" charset="-120"/>
              <a:ea typeface="DFKai-SB" panose="03000509000000000000" pitchFamily="65" charset="-120"/>
              <a:cs typeface="Times New Roman" panose="02020603050405020304" pitchFamily="18" charset="0"/>
            </a:endParaRPr>
          </a:p>
          <a:p>
            <a:pPr marL="0" indent="0">
              <a:buNone/>
            </a:pPr>
            <a:endParaRPr lang="en-US" altLang="zh-TW" sz="1800" u="sng" dirty="0">
              <a:latin typeface="DFKai-SB" panose="03000509000000000000" pitchFamily="65" charset="-120"/>
              <a:ea typeface="DFKai-SB" panose="03000509000000000000" pitchFamily="65" charset="-120"/>
              <a:cs typeface="Times New Roman" panose="02020603050405020304" pitchFamily="18" charset="0"/>
            </a:endParaRPr>
          </a:p>
          <a:p>
            <a:pPr marL="0" indent="0">
              <a:buNone/>
            </a:pPr>
            <a:endParaRPr lang="zh-TW" altLang="en-US" dirty="0"/>
          </a:p>
        </p:txBody>
      </p:sp>
      <p:sp>
        <p:nvSpPr>
          <p:cNvPr id="4" name="文字方塊 3">
            <a:extLst>
              <a:ext uri="{FF2B5EF4-FFF2-40B4-BE49-F238E27FC236}">
                <a16:creationId xmlns:a16="http://schemas.microsoft.com/office/drawing/2014/main" id="{76C2AA4E-6895-5BD1-2B6D-8175F598E6C2}"/>
              </a:ext>
            </a:extLst>
          </p:cNvPr>
          <p:cNvSpPr txBox="1"/>
          <p:nvPr/>
        </p:nvSpPr>
        <p:spPr>
          <a:xfrm>
            <a:off x="6096000" y="1644265"/>
            <a:ext cx="4599843" cy="5213735"/>
          </a:xfrm>
          <a:prstGeom prst="rect">
            <a:avLst/>
          </a:prstGeom>
          <a:noFill/>
        </p:spPr>
        <p:txBody>
          <a:bodyPr wrap="square" rtlCol="0">
            <a:spAutoFit/>
          </a:bodyPr>
          <a:lstStyle/>
          <a:p>
            <a:r>
              <a:rPr lang="zh-TW" altLang="en-US" sz="2000" dirty="0">
                <a:latin typeface="DFKai-SB" panose="03000509000000000000" pitchFamily="65" charset="-120"/>
                <a:ea typeface="DFKai-SB" panose="03000509000000000000" pitchFamily="65" charset="-120"/>
              </a:rPr>
              <a:t>斷詞</a:t>
            </a:r>
            <a:r>
              <a:rPr lang="en-US" altLang="zh-TW" sz="2000" dirty="0">
                <a:latin typeface="DFKai-SB" panose="03000509000000000000" pitchFamily="65" charset="-120"/>
                <a:ea typeface="DFKai-SB" panose="03000509000000000000" pitchFamily="65" charset="-120"/>
              </a:rPr>
              <a:t>:</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zh-TW"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利用中研院的</a:t>
            </a:r>
            <a:r>
              <a:rPr kumimoji="0" lang="en-US" altLang="zh-TW" sz="1800" b="0" i="0" u="none" strike="noStrike" kern="1200" cap="none" spc="0" normalizeH="0" baseline="0" noProof="0" dirty="0" err="1">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ckiptagger</a:t>
            </a:r>
            <a:r>
              <a:rPr kumimoji="0" lang="zh-TW"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進行中文斷詞，以利後續的處理</a:t>
            </a:r>
            <a:endPar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endParaRP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例如</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"comment": "</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自己蓋牌了所以有什麼好笑死的</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    “segmented”: [</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 </a:t>
            </a:r>
            <a:endPar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endParaRP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lang="en-US" altLang="zh-TW" dirty="0">
                <a:solidFill>
                  <a:srgbClr val="000000"/>
                </a:solidFill>
                <a:latin typeface="DFKai-SB" panose="03000509000000000000" pitchFamily="65" charset="-120"/>
                <a:ea typeface="DFKai-SB" panose="03000509000000000000" pitchFamily="65" charset="-120"/>
                <a:cs typeface="Times New Roman" panose="02020603050405020304" pitchFamily="18" charset="0"/>
              </a:rPr>
              <a:t>	</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自己</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蓋</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牌</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        "</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了</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所以</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有</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什麼</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        </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好笑死</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r>
              <a:rPr kumimoji="0" lang="zh-TW" altLang="en-US"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的</a:t>
            </a: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r>
              <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rPr>
              <a:t>    ]</a:t>
            </a:r>
          </a:p>
          <a:p>
            <a:pPr marL="0" marR="0" lvl="0" indent="0" algn="l" defTabSz="914400" rtl="0" eaLnBrk="1" fontAlgn="auto" latinLnBrk="0" hangingPunct="1">
              <a:lnSpc>
                <a:spcPct val="110000"/>
              </a:lnSpc>
              <a:spcBef>
                <a:spcPts val="1000"/>
              </a:spcBef>
              <a:spcAft>
                <a:spcPts val="0"/>
              </a:spcAft>
              <a:buClrTx/>
              <a:buSzTx/>
              <a:buFont typeface="Arial" panose="020B0604020202020204" pitchFamily="34" charset="0"/>
              <a:buNone/>
              <a:tabLst/>
              <a:defRPr/>
            </a:pPr>
            <a:endParaRPr kumimoji="0" lang="en-US" altLang="zh-TW" sz="1800" b="0" i="0" u="none" strike="noStrike" kern="1200" cap="none" spc="0" normalizeH="0" baseline="0" noProof="0" dirty="0">
              <a:ln>
                <a:noFill/>
              </a:ln>
              <a:solidFill>
                <a:srgbClr val="000000"/>
              </a:solidFill>
              <a:effectLst/>
              <a:uLnTx/>
              <a:uFillTx/>
              <a:latin typeface="DFKai-SB" panose="03000509000000000000" pitchFamily="65" charset="-120"/>
              <a:ea typeface="DFKai-SB" panose="03000509000000000000" pitchFamily="65" charset="-120"/>
              <a:cs typeface="Times New Roman" panose="02020603050405020304" pitchFamily="18" charset="0"/>
            </a:endParaRPr>
          </a:p>
          <a:p>
            <a:endParaRPr lang="zh-TW" altLang="en-US" sz="2000" dirty="0"/>
          </a:p>
        </p:txBody>
      </p:sp>
      <p:sp>
        <p:nvSpPr>
          <p:cNvPr id="6" name="投影片編號版面配置區 5">
            <a:extLst>
              <a:ext uri="{FF2B5EF4-FFF2-40B4-BE49-F238E27FC236}">
                <a16:creationId xmlns:a16="http://schemas.microsoft.com/office/drawing/2014/main" id="{0B6B3FCE-CE8D-9632-C57F-43639C984916}"/>
              </a:ext>
            </a:extLst>
          </p:cNvPr>
          <p:cNvSpPr>
            <a:spLocks noGrp="1"/>
          </p:cNvSpPr>
          <p:nvPr>
            <p:ph type="sldNum" sz="quarter" idx="12"/>
          </p:nvPr>
        </p:nvSpPr>
        <p:spPr/>
        <p:txBody>
          <a:bodyPr/>
          <a:lstStyle/>
          <a:p>
            <a:fld id="{87E7843D-FF13-4365-9478-9625B70A2705}" type="slidenum">
              <a:rPr lang="en-US" smtClean="0"/>
              <a:t>7</a:t>
            </a:fld>
            <a:endParaRPr lang="en-US"/>
          </a:p>
        </p:txBody>
      </p:sp>
    </p:spTree>
    <p:extLst>
      <p:ext uri="{BB962C8B-B14F-4D97-AF65-F5344CB8AC3E}">
        <p14:creationId xmlns:p14="http://schemas.microsoft.com/office/powerpoint/2010/main" val="3508636848"/>
      </p:ext>
    </p:extLst>
  </p:cSld>
  <p:clrMapOvr>
    <a:masterClrMapping/>
  </p:clrMapOvr>
  <mc:AlternateContent xmlns:mc="http://schemas.openxmlformats.org/markup-compatibility/2006">
    <mc:Choice xmlns:p14="http://schemas.microsoft.com/office/powerpoint/2010/main" Requires="p14">
      <p:transition spd="slow" p14:dur="2000" advTm="13421"/>
    </mc:Choice>
    <mc:Fallback>
      <p:transition spd="slow" advTm="1342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简约小清新莫兰迪色系ppt背景-背景-爱西西">
            <a:extLst>
              <a:ext uri="{FF2B5EF4-FFF2-40B4-BE49-F238E27FC236}">
                <a16:creationId xmlns:a16="http://schemas.microsoft.com/office/drawing/2014/main" id="{F3FB4FD5-E0C5-A877-33CA-722861AADC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3C7B9825-8279-9A94-C8E0-BDF2E8ABD32B}"/>
              </a:ext>
            </a:extLst>
          </p:cNvPr>
          <p:cNvSpPr>
            <a:spLocks noGrp="1"/>
          </p:cNvSpPr>
          <p:nvPr>
            <p:ph type="title"/>
          </p:nvPr>
        </p:nvSpPr>
        <p:spPr/>
        <p:txBody>
          <a:bodyPr>
            <a:noAutofit/>
          </a:bodyPr>
          <a:lstStyle/>
          <a:p>
            <a:pPr algn="ctr"/>
            <a: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t>人工標籤</a:t>
            </a:r>
            <a:r>
              <a:rPr lang="zh-TW" altLang="en-US" b="1" dirty="0">
                <a:effectLst/>
                <a:latin typeface="DFKai-SB" panose="03000509000000000000" pitchFamily="65" charset="-120"/>
                <a:ea typeface="DFKai-SB" panose="03000509000000000000" pitchFamily="65" charset="-120"/>
                <a:cs typeface="Times New Roman" panose="02020603050405020304" pitchFamily="18" charset="0"/>
              </a:rPr>
              <a:t>介面</a:t>
            </a:r>
            <a:b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p:pic>
        <p:nvPicPr>
          <p:cNvPr id="4" name="內容版面配置區 3" descr="一張含有 文字, 螢幕擷取畫面, 鮮豔, 正方形 的圖片&#10;&#10;自動產生的描述">
            <a:extLst>
              <a:ext uri="{FF2B5EF4-FFF2-40B4-BE49-F238E27FC236}">
                <a16:creationId xmlns:a16="http://schemas.microsoft.com/office/drawing/2014/main" id="{3BB08C69-FC04-D785-0F75-5D7E0AB672CC}"/>
              </a:ext>
            </a:extLst>
          </p:cNvPr>
          <p:cNvPicPr>
            <a:picLocks noGrp="1" noChangeAspect="1"/>
          </p:cNvPicPr>
          <p:nvPr>
            <p:ph idx="1"/>
          </p:nvPr>
        </p:nvPicPr>
        <p:blipFill>
          <a:blip r:embed="rId3"/>
          <a:stretch>
            <a:fillRect/>
          </a:stretch>
        </p:blipFill>
        <p:spPr>
          <a:xfrm>
            <a:off x="5978769" y="1689427"/>
            <a:ext cx="6213231" cy="5168573"/>
          </a:xfrm>
          <a:prstGeom prst="rect">
            <a:avLst/>
          </a:prstGeom>
          <a:ln>
            <a:solidFill>
              <a:sysClr val="windowText" lastClr="000000"/>
            </a:solidFill>
          </a:ln>
        </p:spPr>
      </p:pic>
      <p:sp>
        <p:nvSpPr>
          <p:cNvPr id="6" name="文字方塊 5">
            <a:extLst>
              <a:ext uri="{FF2B5EF4-FFF2-40B4-BE49-F238E27FC236}">
                <a16:creationId xmlns:a16="http://schemas.microsoft.com/office/drawing/2014/main" id="{DD23699F-A991-07EC-CA6D-148FF2FF1CB6}"/>
              </a:ext>
            </a:extLst>
          </p:cNvPr>
          <p:cNvSpPr txBox="1"/>
          <p:nvPr/>
        </p:nvSpPr>
        <p:spPr>
          <a:xfrm>
            <a:off x="700635" y="2970336"/>
            <a:ext cx="4973334" cy="1569660"/>
          </a:xfrm>
          <a:prstGeom prst="rect">
            <a:avLst/>
          </a:prstGeom>
          <a:noFill/>
        </p:spPr>
        <p:txBody>
          <a:bodyPr wrap="square" rtlCol="0">
            <a:spAutoFit/>
          </a:bodyPr>
          <a:lstStyle/>
          <a:p>
            <a:r>
              <a:rPr lang="zh-TW" altLang="zh-TW" sz="2400" dirty="0">
                <a:effectLst/>
                <a:ea typeface="DFKai-SB" panose="03000509000000000000" pitchFamily="65" charset="-120"/>
                <a:cs typeface="Times New Roman" panose="02020603050405020304" pitchFamily="18" charset="0"/>
              </a:rPr>
              <a:t>預先設想了基本的愉悅、悲傷、憤怒、恐懼、厭惡、諷刺、看不出情緒、和非自我情緒作為標籤選項</a:t>
            </a:r>
            <a:r>
              <a:rPr lang="zh-TW" altLang="en-US" sz="2400" dirty="0">
                <a:effectLst/>
                <a:ea typeface="DFKai-SB" panose="03000509000000000000" pitchFamily="65" charset="-120"/>
                <a:cs typeface="Times New Roman" panose="02020603050405020304" pitchFamily="18" charset="0"/>
              </a:rPr>
              <a:t>，且每部電影標記排序後的前</a:t>
            </a:r>
            <a:r>
              <a:rPr lang="en-US" altLang="zh-TW" sz="2400" dirty="0">
                <a:effectLst/>
                <a:ea typeface="DFKai-SB" panose="03000509000000000000" pitchFamily="65" charset="-120"/>
                <a:cs typeface="Times New Roman" panose="02020603050405020304" pitchFamily="18" charset="0"/>
              </a:rPr>
              <a:t>200</a:t>
            </a:r>
            <a:r>
              <a:rPr lang="zh-TW" altLang="en-US" sz="2400" dirty="0">
                <a:effectLst/>
                <a:ea typeface="DFKai-SB" panose="03000509000000000000" pitchFamily="65" charset="-120"/>
                <a:cs typeface="Times New Roman" panose="02020603050405020304" pitchFamily="18" charset="0"/>
              </a:rPr>
              <a:t>句</a:t>
            </a:r>
            <a:endParaRPr lang="en-US" altLang="zh-TW" sz="2400" dirty="0">
              <a:effectLst/>
              <a:ea typeface="DFKai-SB" panose="03000509000000000000" pitchFamily="65" charset="-120"/>
              <a:cs typeface="Times New Roman" panose="02020603050405020304" pitchFamily="18" charset="0"/>
            </a:endParaRPr>
          </a:p>
        </p:txBody>
      </p:sp>
      <p:sp>
        <p:nvSpPr>
          <p:cNvPr id="5" name="投影片編號版面配置區 4">
            <a:extLst>
              <a:ext uri="{FF2B5EF4-FFF2-40B4-BE49-F238E27FC236}">
                <a16:creationId xmlns:a16="http://schemas.microsoft.com/office/drawing/2014/main" id="{BC04CE83-2CA7-3E80-0744-A1C3A2F122D0}"/>
              </a:ext>
            </a:extLst>
          </p:cNvPr>
          <p:cNvSpPr>
            <a:spLocks noGrp="1"/>
          </p:cNvSpPr>
          <p:nvPr>
            <p:ph type="sldNum" sz="quarter" idx="12"/>
          </p:nvPr>
        </p:nvSpPr>
        <p:spPr/>
        <p:txBody>
          <a:bodyPr/>
          <a:lstStyle/>
          <a:p>
            <a:fld id="{87E7843D-FF13-4365-9478-9625B70A2705}" type="slidenum">
              <a:rPr lang="en-US" smtClean="0"/>
              <a:t>8</a:t>
            </a:fld>
            <a:endParaRPr lang="en-US"/>
          </a:p>
        </p:txBody>
      </p:sp>
    </p:spTree>
    <p:extLst>
      <p:ext uri="{BB962C8B-B14F-4D97-AF65-F5344CB8AC3E}">
        <p14:creationId xmlns:p14="http://schemas.microsoft.com/office/powerpoint/2010/main" val="639211062"/>
      </p:ext>
    </p:extLst>
  </p:cSld>
  <p:clrMapOvr>
    <a:masterClrMapping/>
  </p:clrMapOvr>
  <mc:AlternateContent xmlns:mc="http://schemas.openxmlformats.org/markup-compatibility/2006">
    <mc:Choice xmlns:p14="http://schemas.microsoft.com/office/powerpoint/2010/main" Requires="p14">
      <p:transition spd="slow" p14:dur="2000" advTm="20705"/>
    </mc:Choice>
    <mc:Fallback>
      <p:transition spd="slow" advTm="2070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简约小清新莫兰迪色系ppt背景-背景-爱西西">
            <a:extLst>
              <a:ext uri="{FF2B5EF4-FFF2-40B4-BE49-F238E27FC236}">
                <a16:creationId xmlns:a16="http://schemas.microsoft.com/office/drawing/2014/main" id="{00863FC6-7EC8-1279-C522-37083F94A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2E65ED23-C42E-5773-7D27-8E0A5F80362A}"/>
              </a:ext>
            </a:extLst>
          </p:cNvPr>
          <p:cNvSpPr>
            <a:spLocks noGrp="1"/>
          </p:cNvSpPr>
          <p:nvPr>
            <p:ph type="title"/>
          </p:nvPr>
        </p:nvSpPr>
        <p:spPr/>
        <p:txBody>
          <a:bodyPr/>
          <a:lstStyle/>
          <a:p>
            <a:pPr algn="ctr"/>
            <a:r>
              <a:rPr lang="zh-TW" altLang="en-US" dirty="0"/>
              <a:t>標籤結果</a:t>
            </a:r>
          </a:p>
        </p:txBody>
      </p:sp>
      <p:graphicFrame>
        <p:nvGraphicFramePr>
          <p:cNvPr id="8" name="內容版面配置區 7">
            <a:extLst>
              <a:ext uri="{FF2B5EF4-FFF2-40B4-BE49-F238E27FC236}">
                <a16:creationId xmlns:a16="http://schemas.microsoft.com/office/drawing/2014/main" id="{701DAA9B-BC29-618B-2E06-10056A2E96FF}"/>
              </a:ext>
            </a:extLst>
          </p:cNvPr>
          <p:cNvGraphicFramePr>
            <a:graphicFrameLocks noGrp="1"/>
          </p:cNvGraphicFramePr>
          <p:nvPr>
            <p:ph idx="1"/>
            <p:extLst>
              <p:ext uri="{D42A27DB-BD31-4B8C-83A1-F6EECF244321}">
                <p14:modId xmlns:p14="http://schemas.microsoft.com/office/powerpoint/2010/main" val="82844075"/>
              </p:ext>
            </p:extLst>
          </p:nvPr>
        </p:nvGraphicFramePr>
        <p:xfrm>
          <a:off x="316523" y="1611415"/>
          <a:ext cx="11746526" cy="4382983"/>
        </p:xfrm>
        <a:graphic>
          <a:graphicData uri="http://schemas.openxmlformats.org/drawingml/2006/table">
            <a:tbl>
              <a:tblPr firstRow="1" bandRow="1">
                <a:tableStyleId>{5C22544A-7EE6-4342-B048-85BDC9FD1C3A}</a:tableStyleId>
              </a:tblPr>
              <a:tblGrid>
                <a:gridCol w="1067866">
                  <a:extLst>
                    <a:ext uri="{9D8B030D-6E8A-4147-A177-3AD203B41FA5}">
                      <a16:colId xmlns:a16="http://schemas.microsoft.com/office/drawing/2014/main" val="638337918"/>
                    </a:ext>
                  </a:extLst>
                </a:gridCol>
                <a:gridCol w="1067866">
                  <a:extLst>
                    <a:ext uri="{9D8B030D-6E8A-4147-A177-3AD203B41FA5}">
                      <a16:colId xmlns:a16="http://schemas.microsoft.com/office/drawing/2014/main" val="285422422"/>
                    </a:ext>
                  </a:extLst>
                </a:gridCol>
                <a:gridCol w="959160">
                  <a:extLst>
                    <a:ext uri="{9D8B030D-6E8A-4147-A177-3AD203B41FA5}">
                      <a16:colId xmlns:a16="http://schemas.microsoft.com/office/drawing/2014/main" val="3308957899"/>
                    </a:ext>
                  </a:extLst>
                </a:gridCol>
                <a:gridCol w="961293">
                  <a:extLst>
                    <a:ext uri="{9D8B030D-6E8A-4147-A177-3AD203B41FA5}">
                      <a16:colId xmlns:a16="http://schemas.microsoft.com/office/drawing/2014/main" val="3367769583"/>
                    </a:ext>
                  </a:extLst>
                </a:gridCol>
                <a:gridCol w="1283145">
                  <a:extLst>
                    <a:ext uri="{9D8B030D-6E8A-4147-A177-3AD203B41FA5}">
                      <a16:colId xmlns:a16="http://schemas.microsoft.com/office/drawing/2014/main" val="1151837094"/>
                    </a:ext>
                  </a:extLst>
                </a:gridCol>
                <a:gridCol w="1067866">
                  <a:extLst>
                    <a:ext uri="{9D8B030D-6E8A-4147-A177-3AD203B41FA5}">
                      <a16:colId xmlns:a16="http://schemas.microsoft.com/office/drawing/2014/main" val="279836750"/>
                    </a:ext>
                  </a:extLst>
                </a:gridCol>
                <a:gridCol w="1067866">
                  <a:extLst>
                    <a:ext uri="{9D8B030D-6E8A-4147-A177-3AD203B41FA5}">
                      <a16:colId xmlns:a16="http://schemas.microsoft.com/office/drawing/2014/main" val="873637897"/>
                    </a:ext>
                  </a:extLst>
                </a:gridCol>
                <a:gridCol w="1067866">
                  <a:extLst>
                    <a:ext uri="{9D8B030D-6E8A-4147-A177-3AD203B41FA5}">
                      <a16:colId xmlns:a16="http://schemas.microsoft.com/office/drawing/2014/main" val="3527377241"/>
                    </a:ext>
                  </a:extLst>
                </a:gridCol>
                <a:gridCol w="1067866">
                  <a:extLst>
                    <a:ext uri="{9D8B030D-6E8A-4147-A177-3AD203B41FA5}">
                      <a16:colId xmlns:a16="http://schemas.microsoft.com/office/drawing/2014/main" val="1715172300"/>
                    </a:ext>
                  </a:extLst>
                </a:gridCol>
                <a:gridCol w="1326837">
                  <a:extLst>
                    <a:ext uri="{9D8B030D-6E8A-4147-A177-3AD203B41FA5}">
                      <a16:colId xmlns:a16="http://schemas.microsoft.com/office/drawing/2014/main" val="3735671011"/>
                    </a:ext>
                  </a:extLst>
                </a:gridCol>
                <a:gridCol w="808895">
                  <a:extLst>
                    <a:ext uri="{9D8B030D-6E8A-4147-A177-3AD203B41FA5}">
                      <a16:colId xmlns:a16="http://schemas.microsoft.com/office/drawing/2014/main" val="2918400822"/>
                    </a:ext>
                  </a:extLst>
                </a:gridCol>
              </a:tblGrid>
              <a:tr h="545631">
                <a:tc>
                  <a:txBody>
                    <a:bodyPr/>
                    <a:lstStyle/>
                    <a:p>
                      <a:endParaRPr lang="zh-TW" altLang="en-US" dirty="0"/>
                    </a:p>
                  </a:txBody>
                  <a:tcPr/>
                </a:tc>
                <a:tc>
                  <a:txBody>
                    <a:bodyPr/>
                    <a:lstStyle/>
                    <a:p>
                      <a:pPr algn="ctr">
                        <a:lnSpc>
                          <a:spcPct val="200000"/>
                        </a:lnSpc>
                      </a:pPr>
                      <a:r>
                        <a:rPr lang="zh-TW" sz="1800" dirty="0">
                          <a:solidFill>
                            <a:srgbClr val="000000"/>
                          </a:solidFill>
                          <a:effectLst/>
                          <a:latin typeface="MingLiU" panose="02020509000000000000" pitchFamily="49" charset="-120"/>
                          <a:ea typeface="微軟正黑體 Light" panose="020B0304030504040204" pitchFamily="34" charset="-120"/>
                          <a:cs typeface="Courier New" panose="02070309020205020404" pitchFamily="49" charset="0"/>
                        </a:rPr>
                        <a:t>情緒</a:t>
                      </a:r>
                      <a:endParaRPr lang="zh-TW" sz="1800" dirty="0">
                        <a:effectLs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highlight>
                            <a:srgbClr val="FFFF00"/>
                          </a:highlight>
                          <a:latin typeface="MingLiU" panose="02020509000000000000" pitchFamily="49" charset="-120"/>
                          <a:ea typeface="微軟正黑體 Light" panose="020B0304030504040204" pitchFamily="34" charset="-120"/>
                          <a:cs typeface="Courier New" panose="02070309020205020404" pitchFamily="49" charset="0"/>
                        </a:rPr>
                        <a:t>憤怒</a:t>
                      </a:r>
                      <a:endParaRPr lang="zh-TW" sz="1800" dirty="0">
                        <a:effectLst/>
                        <a:highlight>
                          <a:srgbClr val="FFFF00"/>
                        </a:highligh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highlight>
                            <a:srgbClr val="FFFF00"/>
                          </a:highlight>
                          <a:latin typeface="MingLiU" panose="02020509000000000000" pitchFamily="49" charset="-120"/>
                          <a:ea typeface="微軟正黑體 Light" panose="020B0304030504040204" pitchFamily="34" charset="-120"/>
                          <a:cs typeface="Courier New" panose="02070309020205020404" pitchFamily="49" charset="0"/>
                        </a:rPr>
                        <a:t>恐懼</a:t>
                      </a:r>
                      <a:endParaRPr lang="zh-TW" sz="1800" dirty="0">
                        <a:effectLst/>
                        <a:highlight>
                          <a:srgbClr val="FFFF00"/>
                        </a:highligh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latin typeface="MingLiU" panose="02020509000000000000" pitchFamily="49" charset="-120"/>
                          <a:ea typeface="微軟正黑體 Light" panose="020B0304030504040204" pitchFamily="34" charset="-120"/>
                          <a:cs typeface="Courier New" panose="02070309020205020404" pitchFamily="49" charset="0"/>
                        </a:rPr>
                        <a:t>非自我情緒</a:t>
                      </a:r>
                      <a:endParaRPr lang="zh-TW" sz="1800" dirty="0">
                        <a:effectLs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latin typeface="MingLiU" panose="02020509000000000000" pitchFamily="49" charset="-120"/>
                          <a:ea typeface="微軟正黑體 Light" panose="020B0304030504040204" pitchFamily="34" charset="-120"/>
                          <a:cs typeface="Courier New" panose="02070309020205020404" pitchFamily="49" charset="0"/>
                        </a:rPr>
                        <a:t>諷刺</a:t>
                      </a:r>
                      <a:endParaRPr lang="zh-TW" sz="1800" dirty="0">
                        <a:effectLs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highlight>
                            <a:srgbClr val="FFFF00"/>
                          </a:highlight>
                          <a:latin typeface="MingLiU" panose="02020509000000000000" pitchFamily="49" charset="-120"/>
                          <a:ea typeface="微軟正黑體 Light" panose="020B0304030504040204" pitchFamily="34" charset="-120"/>
                          <a:cs typeface="Courier New" panose="02070309020205020404" pitchFamily="49" charset="0"/>
                        </a:rPr>
                        <a:t>悲傷</a:t>
                      </a:r>
                      <a:endParaRPr lang="zh-TW" sz="1800" dirty="0">
                        <a:effectLst/>
                        <a:highlight>
                          <a:srgbClr val="FFFF00"/>
                        </a:highligh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highlight>
                            <a:srgbClr val="FFFF00"/>
                          </a:highlight>
                          <a:latin typeface="MingLiU" panose="02020509000000000000" pitchFamily="49" charset="-120"/>
                          <a:ea typeface="微軟正黑體 Light" panose="020B0304030504040204" pitchFamily="34" charset="-120"/>
                          <a:cs typeface="Courier New" panose="02070309020205020404" pitchFamily="49" charset="0"/>
                        </a:rPr>
                        <a:t>厭惡</a:t>
                      </a:r>
                      <a:endParaRPr lang="zh-TW" sz="1800" dirty="0">
                        <a:effectLst/>
                        <a:highlight>
                          <a:srgbClr val="FFFF00"/>
                        </a:highligh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highlight>
                            <a:srgbClr val="FFFF00"/>
                          </a:highlight>
                          <a:latin typeface="MingLiU" panose="02020509000000000000" pitchFamily="49" charset="-120"/>
                          <a:ea typeface="微軟正黑體 Light" panose="020B0304030504040204" pitchFamily="34" charset="-120"/>
                          <a:cs typeface="Courier New" panose="02070309020205020404" pitchFamily="49" charset="0"/>
                        </a:rPr>
                        <a:t>愉悅</a:t>
                      </a:r>
                      <a:endParaRPr lang="zh-TW" sz="1800" dirty="0">
                        <a:effectLst/>
                        <a:highlight>
                          <a:srgbClr val="FFFF00"/>
                        </a:highligh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highlight>
                            <a:srgbClr val="FFFF00"/>
                          </a:highlight>
                          <a:latin typeface="MingLiU" panose="02020509000000000000" pitchFamily="49" charset="-120"/>
                          <a:ea typeface="微軟正黑體 Light" panose="020B0304030504040204" pitchFamily="34" charset="-120"/>
                          <a:cs typeface="Courier New" panose="02070309020205020404" pitchFamily="49" charset="0"/>
                        </a:rPr>
                        <a:t>看不出情緒</a:t>
                      </a:r>
                      <a:endParaRPr lang="zh-TW" sz="1800" dirty="0">
                        <a:effectLst/>
                        <a:highlight>
                          <a:srgbClr val="FFFF00"/>
                        </a:highligh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tc>
                  <a:txBody>
                    <a:bodyPr/>
                    <a:lstStyle/>
                    <a:p>
                      <a:pPr algn="ctr">
                        <a:lnSpc>
                          <a:spcPct val="200000"/>
                        </a:lnSpc>
                      </a:pPr>
                      <a:r>
                        <a:rPr lang="zh-TW" sz="1800" dirty="0">
                          <a:solidFill>
                            <a:srgbClr val="000000"/>
                          </a:solidFill>
                          <a:effectLst/>
                          <a:latin typeface="MingLiU" panose="02020509000000000000" pitchFamily="49" charset="-120"/>
                          <a:ea typeface="微軟正黑體 Light" panose="020B0304030504040204" pitchFamily="34" charset="-120"/>
                          <a:cs typeface="Courier New" panose="02070309020205020404" pitchFamily="49" charset="0"/>
                        </a:rPr>
                        <a:t>總量</a:t>
                      </a:r>
                      <a:endParaRPr lang="zh-TW" sz="1800" dirty="0">
                        <a:effectLst/>
                        <a:latin typeface="MingLiU" panose="02020509000000000000" pitchFamily="49" charset="-120"/>
                        <a:ea typeface="MingLiU" panose="02020509000000000000" pitchFamily="49" charset="-120"/>
                        <a:cs typeface="Courier New" panose="02070309020205020404" pitchFamily="49" charset="0"/>
                      </a:endParaRPr>
                    </a:p>
                  </a:txBody>
                  <a:tcPr marL="68580" marR="68580" marT="0" marB="0"/>
                </a:tc>
                <a:extLst>
                  <a:ext uri="{0D108BD9-81ED-4DB2-BD59-A6C34878D82A}">
                    <a16:rowId xmlns:a16="http://schemas.microsoft.com/office/drawing/2014/main" val="1619314742"/>
                  </a:ext>
                </a:extLst>
              </a:tr>
              <a:tr h="479669">
                <a:tc rowSpan="2">
                  <a:txBody>
                    <a:bodyPr/>
                    <a:lstStyle/>
                    <a:p>
                      <a:r>
                        <a:rPr lang="en-US" altLang="zh-TW" sz="2000" b="1" dirty="0" err="1">
                          <a:latin typeface="DFKai-SB" panose="03000509000000000000" pitchFamily="65" charset="-120"/>
                          <a:ea typeface="DFKai-SB" panose="03000509000000000000" pitchFamily="65" charset="-120"/>
                        </a:rPr>
                        <a:t>ptt</a:t>
                      </a:r>
                      <a:endParaRPr lang="zh-TW" altLang="en-US" sz="2000" b="1"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佔比</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2.7%</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3.3%</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3.5%</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4.1%</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8.4%</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9.5%</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10.4%</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58.1%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rowSpan="2">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18368</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extLst>
                  <a:ext uri="{0D108BD9-81ED-4DB2-BD59-A6C34878D82A}">
                    <a16:rowId xmlns:a16="http://schemas.microsoft.com/office/drawing/2014/main" val="3949864552"/>
                  </a:ext>
                </a:extLst>
              </a:tr>
              <a:tr h="479669">
                <a:tc vMerge="1">
                  <a:txBody>
                    <a:bodyPr/>
                    <a:lstStyle/>
                    <a:p>
                      <a:endParaRPr lang="zh-TW" altLang="en-US" dirty="0"/>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數量</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491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606</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641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751</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1537</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1752</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1911</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10679</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2792234038"/>
                  </a:ext>
                </a:extLst>
              </a:tr>
              <a:tr h="479669">
                <a:tc rowSpan="2">
                  <a:txBody>
                    <a:bodyPr/>
                    <a:lstStyle/>
                    <a:p>
                      <a:r>
                        <a:rPr lang="en-US" altLang="zh-TW" sz="2000" b="1" dirty="0">
                          <a:latin typeface="DFKai-SB" panose="03000509000000000000" pitchFamily="65" charset="-120"/>
                          <a:ea typeface="DFKai-SB" panose="03000509000000000000" pitchFamily="65" charset="-120"/>
                        </a:rPr>
                        <a:t>X</a:t>
                      </a:r>
                      <a:endParaRPr lang="zh-TW" altLang="en-US" sz="2000" b="1"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佔比</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2.2%</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0.5%</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0.7%</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5.3%</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1.4%</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12.8%</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75.9%</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rowSpan="2">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21241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extLst>
                  <a:ext uri="{0D108BD9-81ED-4DB2-BD59-A6C34878D82A}">
                    <a16:rowId xmlns:a16="http://schemas.microsoft.com/office/drawing/2014/main" val="670372424"/>
                  </a:ext>
                </a:extLst>
              </a:tr>
              <a:tr h="479669">
                <a:tc vMerge="1">
                  <a:txBody>
                    <a:bodyPr/>
                    <a:lstStyle/>
                    <a:p>
                      <a:endParaRPr lang="zh-TW" altLang="en-US" dirty="0"/>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數量</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104</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153</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244</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301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477</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1118</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2722</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16122</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1797315244"/>
                  </a:ext>
                </a:extLst>
              </a:tr>
              <a:tr h="479669">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2000" b="1" u="none" strike="noStrike" kern="1200" dirty="0">
                          <a:solidFill>
                            <a:schemeClr val="dk1"/>
                          </a:solidFill>
                          <a:effectLst>
                            <a:glow>
                              <a:srgbClr val="000000"/>
                            </a:glow>
                            <a:outerShdw sx="0" sy="0">
                              <a:srgbClr val="000000"/>
                            </a:outerShdw>
                            <a:reflection stA="0" endPos="0" fadeDir="0" sx="0" sy="0"/>
                          </a:effectLst>
                          <a:latin typeface="DFKai-SB" panose="03000509000000000000" pitchFamily="65" charset="-120"/>
                          <a:ea typeface="DFKai-SB" panose="03000509000000000000" pitchFamily="65" charset="-120"/>
                          <a:cs typeface="+mn-cs"/>
                        </a:rPr>
                        <a:t>豆瓣</a:t>
                      </a:r>
                    </a:p>
                    <a:p>
                      <a:endParaRPr lang="zh-TW" altLang="en-US" sz="2000" b="1"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佔比</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1.0%</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1.3%</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0.1%</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0.4%</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6.5%</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4.3%</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16.2%</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70.1%</a:t>
                      </a:r>
                      <a:endParaRPr lang="zh-TW" sz="180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rowSpan="2">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14154</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extLst>
                  <a:ext uri="{0D108BD9-81ED-4DB2-BD59-A6C34878D82A}">
                    <a16:rowId xmlns:a16="http://schemas.microsoft.com/office/drawing/2014/main" val="3013784915"/>
                  </a:ext>
                </a:extLst>
              </a:tr>
              <a:tr h="479669">
                <a:tc vMerge="1">
                  <a:txBody>
                    <a:bodyPr/>
                    <a:lstStyle/>
                    <a:p>
                      <a:endParaRPr lang="zh-TW" altLang="en-US" dirty="0"/>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數量</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141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185</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11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57</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926</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615</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2291</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9928</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vMerge="1">
                  <a:txBody>
                    <a:bodyPr/>
                    <a:lstStyle/>
                    <a:p>
                      <a:endParaRPr lang="zh-TW" altLang="en-US"/>
                    </a:p>
                  </a:txBody>
                  <a:tcPr/>
                </a:tc>
                <a:extLst>
                  <a:ext uri="{0D108BD9-81ED-4DB2-BD59-A6C34878D82A}">
                    <a16:rowId xmlns:a16="http://schemas.microsoft.com/office/drawing/2014/main" val="180786272"/>
                  </a:ext>
                </a:extLst>
              </a:tr>
              <a:tr h="479669">
                <a:tc rowSpan="2">
                  <a:txBody>
                    <a:bodyPr/>
                    <a:lstStyle/>
                    <a:p>
                      <a:r>
                        <a:rPr lang="zh-TW" altLang="en-US" sz="2000" b="1" dirty="0">
                          <a:latin typeface="DFKai-SB" panose="03000509000000000000" pitchFamily="65" charset="-120"/>
                          <a:ea typeface="DFKai-SB" panose="03000509000000000000" pitchFamily="65" charset="-120"/>
                        </a:rPr>
                        <a:t>合計</a:t>
                      </a:r>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佔比</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1.4%</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1.8%</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1.9%</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2.1%</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5.5%</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6.5%</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12.9%</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68.3%</a:t>
                      </a:r>
                      <a:endParaRPr lang="zh-TW" altLang="en-US" sz="1800" dirty="0">
                        <a:latin typeface="DFKai-SB" panose="03000509000000000000" pitchFamily="65" charset="-120"/>
                        <a:ea typeface="DFKai-SB" panose="03000509000000000000" pitchFamily="65" charset="-120"/>
                      </a:endParaRPr>
                    </a:p>
                  </a:txBody>
                  <a:tcPr/>
                </a:tc>
                <a:tc rowSpan="2">
                  <a:txBody>
                    <a:bodyPr/>
                    <a:lstStyle/>
                    <a:p>
                      <a:pPr algn="ctr">
                        <a:lnSpc>
                          <a:spcPct val="150000"/>
                        </a:lnSpc>
                      </a:pPr>
                      <a:r>
                        <a:rPr lang="en-US" altLang="zh-TW" sz="1800" dirty="0">
                          <a:latin typeface="DFKai-SB" panose="03000509000000000000" pitchFamily="65" charset="-120"/>
                          <a:ea typeface="DFKai-SB" panose="03000509000000000000" pitchFamily="65" charset="-120"/>
                        </a:rPr>
                        <a:t>53763</a:t>
                      </a:r>
                      <a:endParaRPr lang="zh-TW" altLang="en-US" sz="1800" dirty="0">
                        <a:latin typeface="DFKai-SB" panose="03000509000000000000" pitchFamily="65" charset="-120"/>
                        <a:ea typeface="DFKai-SB" panose="03000509000000000000" pitchFamily="65" charset="-120"/>
                      </a:endParaRPr>
                    </a:p>
                  </a:txBody>
                  <a:tcPr/>
                </a:tc>
                <a:extLst>
                  <a:ext uri="{0D108BD9-81ED-4DB2-BD59-A6C34878D82A}">
                    <a16:rowId xmlns:a16="http://schemas.microsoft.com/office/drawing/2014/main" val="2828286612"/>
                  </a:ext>
                </a:extLst>
              </a:tr>
              <a:tr h="479669">
                <a:tc vMerge="1">
                  <a:txBody>
                    <a:bodyPr/>
                    <a:lstStyle/>
                    <a:p>
                      <a:endParaRPr lang="zh-TW" altLang="en-US" dirty="0"/>
                    </a:p>
                  </a:txBody>
                  <a:tcPr/>
                </a:tc>
                <a:tc>
                  <a:txBody>
                    <a:bodyPr/>
                    <a:lstStyle/>
                    <a:p>
                      <a:pPr algn="ctr">
                        <a:lnSpc>
                          <a:spcPct val="150000"/>
                        </a:lnSpc>
                      </a:pPr>
                      <a:r>
                        <a:rPr lang="zh-TW" sz="1800" dirty="0">
                          <a:solidFill>
                            <a:srgbClr val="000000"/>
                          </a:solidFill>
                          <a:effectLst/>
                          <a:latin typeface="DFKai-SB" panose="03000509000000000000" pitchFamily="65" charset="-120"/>
                          <a:ea typeface="DFKai-SB" panose="03000509000000000000" pitchFamily="65" charset="-120"/>
                          <a:cs typeface="Courier New" panose="02070309020205020404" pitchFamily="49" charset="0"/>
                        </a:rPr>
                        <a:t>數量</a:t>
                      </a:r>
                      <a:endParaRPr lang="zh-TW" sz="1800" dirty="0">
                        <a:effectLst/>
                        <a:latin typeface="DFKai-SB" panose="03000509000000000000" pitchFamily="65" charset="-120"/>
                        <a:ea typeface="DFKai-SB" panose="03000509000000000000" pitchFamily="65" charset="-120"/>
                        <a:cs typeface="Courier New" panose="02070309020205020404" pitchFamily="49" charset="0"/>
                      </a:endParaRPr>
                    </a:p>
                  </a:txBody>
                  <a:tcPr marL="68580" marR="68580" marT="0" marB="0"/>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736</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944</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896</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1109</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2940</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3485</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6924</a:t>
                      </a:r>
                      <a:endParaRPr lang="zh-TW" altLang="en-US" sz="1800" dirty="0">
                        <a:latin typeface="DFKai-SB" panose="03000509000000000000" pitchFamily="65" charset="-120"/>
                        <a:ea typeface="DFKai-SB" panose="03000509000000000000" pitchFamily="65" charset="-120"/>
                      </a:endParaRPr>
                    </a:p>
                  </a:txBody>
                  <a:tcPr/>
                </a:tc>
                <a:tc>
                  <a:txBody>
                    <a:bodyPr/>
                    <a:lstStyle/>
                    <a:p>
                      <a:pPr algn="ctr">
                        <a:lnSpc>
                          <a:spcPct val="150000"/>
                        </a:lnSpc>
                      </a:pPr>
                      <a:r>
                        <a:rPr lang="en-US" altLang="zh-TW" sz="1800" dirty="0">
                          <a:latin typeface="DFKai-SB" panose="03000509000000000000" pitchFamily="65" charset="-120"/>
                          <a:ea typeface="DFKai-SB" panose="03000509000000000000" pitchFamily="65" charset="-120"/>
                        </a:rPr>
                        <a:t>36729</a:t>
                      </a:r>
                      <a:endParaRPr lang="zh-TW" altLang="en-US" sz="1800" dirty="0">
                        <a:latin typeface="DFKai-SB" panose="03000509000000000000" pitchFamily="65" charset="-120"/>
                        <a:ea typeface="DFKai-SB" panose="03000509000000000000" pitchFamily="65" charset="-120"/>
                      </a:endParaRPr>
                    </a:p>
                  </a:txBody>
                  <a:tcPr/>
                </a:tc>
                <a:tc vMerge="1">
                  <a:txBody>
                    <a:bodyPr/>
                    <a:lstStyle/>
                    <a:p>
                      <a:endParaRPr dirty="0"/>
                    </a:p>
                  </a:txBody>
                  <a:tcPr/>
                </a:tc>
                <a:extLst>
                  <a:ext uri="{0D108BD9-81ED-4DB2-BD59-A6C34878D82A}">
                    <a16:rowId xmlns:a16="http://schemas.microsoft.com/office/drawing/2014/main" val="2148475479"/>
                  </a:ext>
                </a:extLst>
              </a:tr>
            </a:tbl>
          </a:graphicData>
        </a:graphic>
      </p:graphicFrame>
      <p:sp>
        <p:nvSpPr>
          <p:cNvPr id="4" name="投影片編號版面配置區 3">
            <a:extLst>
              <a:ext uri="{FF2B5EF4-FFF2-40B4-BE49-F238E27FC236}">
                <a16:creationId xmlns:a16="http://schemas.microsoft.com/office/drawing/2014/main" id="{9DC89AD7-57EA-B0B8-4579-00E4EB41C593}"/>
              </a:ext>
            </a:extLst>
          </p:cNvPr>
          <p:cNvSpPr>
            <a:spLocks noGrp="1"/>
          </p:cNvSpPr>
          <p:nvPr>
            <p:ph type="sldNum" sz="quarter" idx="12"/>
          </p:nvPr>
        </p:nvSpPr>
        <p:spPr/>
        <p:txBody>
          <a:bodyPr/>
          <a:lstStyle/>
          <a:p>
            <a:fld id="{87E7843D-FF13-4365-9478-9625B70A2705}" type="slidenum">
              <a:rPr lang="en-US" smtClean="0"/>
              <a:t>9</a:t>
            </a:fld>
            <a:endParaRPr lang="en-US"/>
          </a:p>
        </p:txBody>
      </p:sp>
    </p:spTree>
    <p:extLst>
      <p:ext uri="{BB962C8B-B14F-4D97-AF65-F5344CB8AC3E}">
        <p14:creationId xmlns:p14="http://schemas.microsoft.com/office/powerpoint/2010/main" val="1028715236"/>
      </p:ext>
    </p:extLst>
  </p:cSld>
  <p:clrMapOvr>
    <a:masterClrMapping/>
  </p:clrMapOvr>
  <mc:AlternateContent xmlns:mc="http://schemas.openxmlformats.org/markup-compatibility/2006">
    <mc:Choice xmlns:p14="http://schemas.microsoft.com/office/powerpoint/2010/main" Requires="p14">
      <p:transition spd="slow" p14:dur="2000" advTm="18796"/>
    </mc:Choice>
    <mc:Fallback>
      <p:transition spd="slow" advTm="1879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98044882-4A14-671C-E3DF-5CF8F8BA3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06B02066-AA48-15C0-3D8D-8864CCDFCEDE}"/>
              </a:ext>
            </a:extLst>
          </p:cNvPr>
          <p:cNvSpPr>
            <a:spLocks noGrp="1"/>
          </p:cNvSpPr>
          <p:nvPr>
            <p:ph type="title"/>
          </p:nvPr>
        </p:nvSpPr>
        <p:spPr/>
        <p:txBody>
          <a:bodyPr>
            <a:noAutofit/>
          </a:bodyPr>
          <a:lstStyle/>
          <a:p>
            <a:pPr algn="ctr"/>
            <a: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t>數據分切</a:t>
            </a:r>
            <a:b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ABDFA1E8-0716-1DD2-7C52-624F35BAE368}"/>
                  </a:ext>
                </a:extLst>
              </p:cNvPr>
              <p:cNvSpPr>
                <a:spLocks noGrp="1"/>
              </p:cNvSpPr>
              <p:nvPr>
                <p:ph idx="1"/>
              </p:nvPr>
            </p:nvSpPr>
            <p:spPr/>
            <p:txBody>
              <a:bodyPr/>
              <a:lstStyle/>
              <a:p>
                <a:pPr marL="0" indent="0">
                  <a:buNone/>
                </a:pP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將標記後的資料分成</a:t>
                </a:r>
                <a:r>
                  <a:rPr lang="en-US" altLang="zh-TW" dirty="0">
                    <a:effectLst/>
                    <a:latin typeface="DFKai-SB" panose="03000509000000000000" pitchFamily="65" charset="-120"/>
                    <a:ea typeface="DFKai-SB" panose="03000509000000000000" pitchFamily="65" charset="-120"/>
                    <a:cs typeface="Times New Roman" panose="02020603050405020304" pitchFamily="18" charset="0"/>
                  </a:rPr>
                  <a:t>10</a:t>
                </a: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份，以利後續做訓練資料以及測試資料的分割和交叉驗證</a:t>
                </a:r>
              </a:p>
              <a:p>
                <a:pPr marL="0" indent="0">
                  <a:buNone/>
                </a:pPr>
                <a:r>
                  <a:rPr lang="zh-TW" altLang="en-US" dirty="0">
                    <a:latin typeface="DFKai-SB" panose="03000509000000000000" pitchFamily="65" charset="-120"/>
                    <a:ea typeface="DFKai-SB" panose="03000509000000000000" pitchFamily="65" charset="-120"/>
                  </a:rPr>
                  <a:t> 如何切</a:t>
                </a:r>
                <a:r>
                  <a:rPr lang="en-US" altLang="zh-TW" dirty="0">
                    <a:latin typeface="DFKai-SB" panose="03000509000000000000" pitchFamily="65" charset="-120"/>
                    <a:ea typeface="DFKai-SB" panose="03000509000000000000" pitchFamily="65" charset="-120"/>
                  </a:rPr>
                  <a:t>10</a:t>
                </a:r>
                <a:r>
                  <a:rPr lang="zh-TW" altLang="en-US" dirty="0">
                    <a:latin typeface="DFKai-SB" panose="03000509000000000000" pitchFamily="65" charset="-120"/>
                    <a:ea typeface="DFKai-SB" panose="03000509000000000000" pitchFamily="65" charset="-120"/>
                  </a:rPr>
                  <a:t>份</a:t>
                </a:r>
                <a:r>
                  <a:rPr lang="en-US" altLang="zh-TW" dirty="0">
                    <a:latin typeface="DFKai-SB" panose="03000509000000000000" pitchFamily="65" charset="-120"/>
                    <a:ea typeface="DFKai-SB" panose="03000509000000000000" pitchFamily="65" charset="-120"/>
                  </a:rPr>
                  <a:t>?</a:t>
                </a:r>
                <a:r>
                  <a:rPr lang="zh-TW" altLang="en-US" dirty="0">
                    <a:latin typeface="DFKai-SB" panose="03000509000000000000" pitchFamily="65" charset="-120"/>
                    <a:ea typeface="DFKai-SB" panose="03000509000000000000" pitchFamily="65" charset="-120"/>
                  </a:rPr>
                  <a:t> 使用相似度排序</a:t>
                </a:r>
                <a:r>
                  <a:rPr lang="en-US" altLang="zh-TW" dirty="0">
                    <a:latin typeface="DFKai-SB" panose="03000509000000000000" pitchFamily="65" charset="-120"/>
                    <a:ea typeface="DFKai-SB" panose="03000509000000000000" pitchFamily="65" charset="-120"/>
                  </a:rPr>
                  <a:t>:</a:t>
                </a:r>
              </a:p>
              <a:p>
                <a:pPr marL="77470" indent="0">
                  <a:spcBef>
                    <a:spcPts val="600"/>
                  </a:spcBef>
                  <a:buNone/>
                </a:pP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將所有</a:t>
                </a:r>
                <a:r>
                  <a:rPr lang="en-US" altLang="zh-TW" dirty="0">
                    <a:effectLst/>
                    <a:latin typeface="DFKai-SB" panose="03000509000000000000" pitchFamily="65" charset="-120"/>
                    <a:ea typeface="DFKai-SB" panose="03000509000000000000" pitchFamily="65" charset="-120"/>
                    <a:cs typeface="Times New Roman" panose="02020603050405020304" pitchFamily="18" charset="0"/>
                  </a:rPr>
                  <a:t>n</a:t>
                </a: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個句子進行</a:t>
                </a:r>
                <a14:m>
                  <m:oMath xmlns:m="http://schemas.openxmlformats.org/officeDocument/2006/math">
                    <m:sSubSup>
                      <m:sSubSupPr>
                        <m:ctrlPr>
                          <a:rPr lang="zh-TW" altLang="zh-TW" i="1">
                            <a:effectLst/>
                            <a:latin typeface="Cambria Math" panose="02040503050406030204" pitchFamily="18" charset="0"/>
                            <a:ea typeface="Cambria Math" panose="02040503050406030204" pitchFamily="18" charset="0"/>
                            <a:cs typeface="Times New Roman" panose="02020603050405020304" pitchFamily="18" charset="0"/>
                          </a:rPr>
                        </m:ctrlPr>
                      </m:sSubSupPr>
                      <m:e>
                        <m:r>
                          <a:rPr lang="en-US" altLang="zh-TW" b="1" i="1">
                            <a:effectLst/>
                            <a:latin typeface="Cambria Math" panose="02040503050406030204" pitchFamily="18" charset="0"/>
                            <a:ea typeface="DFKai-SB" panose="03000509000000000000" pitchFamily="65" charset="-120"/>
                            <a:cs typeface="Times New Roman" panose="02020603050405020304" pitchFamily="18" charset="0"/>
                          </a:rPr>
                          <m:t>𝑪</m:t>
                        </m:r>
                      </m:e>
                      <m:sub>
                        <m:r>
                          <a:rPr lang="en-US" altLang="zh-TW" b="1" i="1">
                            <a:effectLst/>
                            <a:latin typeface="Cambria Math" panose="02040503050406030204" pitchFamily="18" charset="0"/>
                            <a:ea typeface="DFKai-SB" panose="03000509000000000000" pitchFamily="65" charset="-120"/>
                            <a:cs typeface="Times New Roman" panose="02020603050405020304" pitchFamily="18" charset="0"/>
                          </a:rPr>
                          <m:t>𝟐</m:t>
                        </m:r>
                      </m:sub>
                      <m:sup>
                        <m:r>
                          <a:rPr lang="en-US" altLang="zh-TW" b="1" i="1">
                            <a:effectLst/>
                            <a:latin typeface="Cambria Math" panose="02040503050406030204" pitchFamily="18" charset="0"/>
                            <a:ea typeface="DFKai-SB" panose="03000509000000000000" pitchFamily="65" charset="-120"/>
                            <a:cs typeface="Times New Roman" panose="02020603050405020304" pitchFamily="18" charset="0"/>
                          </a:rPr>
                          <m:t>𝒏</m:t>
                        </m:r>
                      </m:sup>
                    </m:sSubSup>
                  </m:oMath>
                </a14:m>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次兩兩相比，並利用</a:t>
                </a:r>
                <a:r>
                  <a:rPr lang="en-US" altLang="zh-TW" dirty="0">
                    <a:effectLst/>
                    <a:latin typeface="DFKai-SB" panose="03000509000000000000" pitchFamily="65" charset="-120"/>
                    <a:ea typeface="DFKai-SB" panose="03000509000000000000" pitchFamily="65" charset="-120"/>
                    <a:cs typeface="Times New Roman" panose="02020603050405020304" pitchFamily="18" charset="0"/>
                  </a:rPr>
                  <a:t>Dice</a:t>
                </a: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係數</a:t>
                </a:r>
                <a:r>
                  <a:rPr lang="en-US" altLang="zh-TW" dirty="0">
                    <a:effectLst/>
                    <a:latin typeface="DFKai-SB" panose="03000509000000000000" pitchFamily="65" charset="-120"/>
                    <a:ea typeface="DFKai-SB" panose="03000509000000000000" pitchFamily="65" charset="-120"/>
                    <a:cs typeface="Times New Roman" panose="02020603050405020304" pitchFamily="18" charset="0"/>
                  </a:rPr>
                  <a:t> (Dice-</a:t>
                </a:r>
                <a:r>
                  <a:rPr lang="en-US" altLang="zh-TW" dirty="0" err="1">
                    <a:effectLst/>
                    <a:latin typeface="DFKai-SB" panose="03000509000000000000" pitchFamily="65" charset="-120"/>
                    <a:ea typeface="DFKai-SB" panose="03000509000000000000" pitchFamily="65" charset="-120"/>
                    <a:cs typeface="Times New Roman" panose="02020603050405020304" pitchFamily="18" charset="0"/>
                  </a:rPr>
                  <a:t>Sørensen</a:t>
                </a:r>
                <a:r>
                  <a:rPr lang="en-US" altLang="zh-TW" dirty="0">
                    <a:effectLst/>
                    <a:latin typeface="DFKai-SB" panose="03000509000000000000" pitchFamily="65" charset="-120"/>
                    <a:ea typeface="DFKai-SB" panose="03000509000000000000" pitchFamily="65" charset="-120"/>
                    <a:cs typeface="Times New Roman" panose="02020603050405020304" pitchFamily="18" charset="0"/>
                  </a:rPr>
                  <a:t> coefficient)</a:t>
                </a: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取相似度 </a:t>
                </a:r>
              </a:p>
              <a:p>
                <a:pPr marL="77470" indent="0">
                  <a:spcBef>
                    <a:spcPts val="600"/>
                  </a:spcBef>
                  <a:buNone/>
                </a:pPr>
                <a14:m>
                  <m:oMathPara xmlns:m="http://schemas.openxmlformats.org/officeDocument/2006/math">
                    <m:oMathParaPr>
                      <m:jc m:val="centerGroup"/>
                    </m:oMathParaPr>
                    <m:oMath xmlns:m="http://schemas.openxmlformats.org/officeDocument/2006/math">
                      <m:r>
                        <m:rPr>
                          <m:sty m:val="p"/>
                        </m:rPr>
                        <a:rPr lang="en-US" altLang="zh-TW">
                          <a:effectLst/>
                          <a:latin typeface="Cambria Math" panose="02040503050406030204" pitchFamily="18" charset="0"/>
                          <a:ea typeface="DFKai-SB" panose="03000509000000000000" pitchFamily="65" charset="-120"/>
                          <a:cs typeface="Times New Roman" panose="02020603050405020304" pitchFamily="18" charset="0"/>
                        </a:rPr>
                        <m:t>Dice</m:t>
                      </m:r>
                      <m:d>
                        <m:dPr>
                          <m:ctrlPr>
                            <a:rPr lang="zh-TW" altLang="zh-TW" i="1">
                              <a:effectLst/>
                              <a:latin typeface="Cambria Math" panose="02040503050406030204" pitchFamily="18" charset="0"/>
                              <a:ea typeface="Cambria Math" panose="02040503050406030204" pitchFamily="18" charset="0"/>
                              <a:cs typeface="Times New Roman" panose="02020603050405020304" pitchFamily="18" charset="0"/>
                            </a:rPr>
                          </m:ctrlPr>
                        </m:dPr>
                        <m:e>
                          <m:r>
                            <m:rPr>
                              <m:sty m:val="p"/>
                            </m:rPr>
                            <a:rPr lang="en-US" altLang="zh-TW">
                              <a:effectLst/>
                              <a:latin typeface="Cambria Math" panose="02040503050406030204" pitchFamily="18" charset="0"/>
                              <a:ea typeface="DFKai-SB" panose="03000509000000000000" pitchFamily="65" charset="-120"/>
                              <a:cs typeface="Times New Roman" panose="02020603050405020304" pitchFamily="18" charset="0"/>
                            </a:rPr>
                            <m:t>A</m:t>
                          </m:r>
                          <m:r>
                            <a:rPr lang="en-US" altLang="zh-TW">
                              <a:effectLst/>
                              <a:latin typeface="Cambria Math" panose="02040503050406030204" pitchFamily="18" charset="0"/>
                              <a:ea typeface="DFKai-SB" panose="03000509000000000000" pitchFamily="65" charset="-120"/>
                              <a:cs typeface="Times New Roman" panose="02020603050405020304" pitchFamily="18" charset="0"/>
                            </a:rPr>
                            <m:t>,</m:t>
                          </m:r>
                          <m:r>
                            <m:rPr>
                              <m:sty m:val="p"/>
                            </m:rPr>
                            <a:rPr lang="en-US" altLang="zh-TW">
                              <a:effectLst/>
                              <a:latin typeface="Cambria Math" panose="02040503050406030204" pitchFamily="18" charset="0"/>
                              <a:ea typeface="DFKai-SB" panose="03000509000000000000" pitchFamily="65" charset="-120"/>
                              <a:cs typeface="Times New Roman" panose="02020603050405020304" pitchFamily="18" charset="0"/>
                            </a:rPr>
                            <m:t>B</m:t>
                          </m:r>
                        </m:e>
                      </m:d>
                      <m:r>
                        <a:rPr lang="en-US" altLang="zh-TW">
                          <a:effectLst/>
                          <a:latin typeface="Cambria Math" panose="02040503050406030204" pitchFamily="18" charset="0"/>
                          <a:ea typeface="DFKai-SB" panose="03000509000000000000" pitchFamily="65" charset="-120"/>
                          <a:cs typeface="Times New Roman" panose="02020603050405020304" pitchFamily="18" charset="0"/>
                        </a:rPr>
                        <m:t>=</m:t>
                      </m:r>
                      <m:f>
                        <m:fPr>
                          <m:ctrlPr>
                            <a:rPr lang="zh-TW" altLang="zh-TW"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i="1">
                              <a:effectLst/>
                              <a:latin typeface="Cambria Math" panose="02040503050406030204" pitchFamily="18" charset="0"/>
                              <a:ea typeface="DFKai-SB" panose="03000509000000000000" pitchFamily="65" charset="-120"/>
                              <a:cs typeface="Times New Roman" panose="02020603050405020304" pitchFamily="18" charset="0"/>
                            </a:rPr>
                            <m:t>2×|</m:t>
                          </m:r>
                          <m:r>
                            <a:rPr lang="en-US" altLang="zh-TW" i="1">
                              <a:effectLst/>
                              <a:latin typeface="Cambria Math" panose="02040503050406030204" pitchFamily="18" charset="0"/>
                              <a:ea typeface="DFKai-SB" panose="03000509000000000000" pitchFamily="65" charset="-120"/>
                              <a:cs typeface="Times New Roman" panose="02020603050405020304" pitchFamily="18" charset="0"/>
                            </a:rPr>
                            <m:t>𝐴</m:t>
                          </m:r>
                          <m:r>
                            <a:rPr lang="en-US" altLang="zh-TW" i="1">
                              <a:effectLst/>
                              <a:latin typeface="Cambria Math" panose="02040503050406030204" pitchFamily="18" charset="0"/>
                              <a:ea typeface="DFKai-SB" panose="03000509000000000000" pitchFamily="65" charset="-120"/>
                              <a:cs typeface="Times New Roman" panose="02020603050405020304" pitchFamily="18" charset="0"/>
                            </a:rPr>
                            <m:t>∩</m:t>
                          </m:r>
                          <m:r>
                            <a:rPr lang="en-US" altLang="zh-TW" i="1">
                              <a:effectLst/>
                              <a:latin typeface="Cambria Math" panose="02040503050406030204" pitchFamily="18" charset="0"/>
                              <a:ea typeface="DFKai-SB" panose="03000509000000000000" pitchFamily="65" charset="-120"/>
                              <a:cs typeface="Times New Roman" panose="02020603050405020304" pitchFamily="18" charset="0"/>
                            </a:rPr>
                            <m:t>𝐵</m:t>
                          </m:r>
                          <m:r>
                            <a:rPr lang="en-US" altLang="zh-TW" i="1">
                              <a:effectLst/>
                              <a:latin typeface="Cambria Math" panose="02040503050406030204" pitchFamily="18" charset="0"/>
                              <a:ea typeface="DFKai-SB" panose="03000509000000000000" pitchFamily="65" charset="-120"/>
                              <a:cs typeface="Times New Roman" panose="02020603050405020304" pitchFamily="18" charset="0"/>
                            </a:rPr>
                            <m:t>|</m:t>
                          </m:r>
                        </m:num>
                        <m:den>
                          <m:d>
                            <m:dPr>
                              <m:begChr m:val="|"/>
                              <m:endChr m:val="|"/>
                              <m:ctrlPr>
                                <a:rPr lang="zh-TW" altLang="zh-TW"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TW" i="1">
                                  <a:effectLst/>
                                  <a:latin typeface="Cambria Math" panose="02040503050406030204" pitchFamily="18" charset="0"/>
                                  <a:ea typeface="DFKai-SB" panose="03000509000000000000" pitchFamily="65" charset="-120"/>
                                  <a:cs typeface="Times New Roman" panose="02020603050405020304" pitchFamily="18" charset="0"/>
                                </a:rPr>
                                <m:t>𝐴</m:t>
                              </m:r>
                            </m:e>
                          </m:d>
                          <m:r>
                            <a:rPr lang="en-US" altLang="zh-TW" i="1">
                              <a:effectLst/>
                              <a:latin typeface="Cambria Math" panose="02040503050406030204" pitchFamily="18" charset="0"/>
                              <a:ea typeface="DFKai-SB" panose="03000509000000000000" pitchFamily="65" charset="-120"/>
                              <a:cs typeface="Times New Roman" panose="02020603050405020304" pitchFamily="18" charset="0"/>
                            </a:rPr>
                            <m:t>+|</m:t>
                          </m:r>
                          <m:r>
                            <a:rPr lang="en-US" altLang="zh-TW" i="1">
                              <a:effectLst/>
                              <a:latin typeface="Cambria Math" panose="02040503050406030204" pitchFamily="18" charset="0"/>
                              <a:ea typeface="DFKai-SB" panose="03000509000000000000" pitchFamily="65" charset="-120"/>
                              <a:cs typeface="Times New Roman" panose="02020603050405020304" pitchFamily="18" charset="0"/>
                            </a:rPr>
                            <m:t>𝐵</m:t>
                          </m:r>
                          <m:r>
                            <a:rPr lang="en-US" altLang="zh-TW" i="1">
                              <a:effectLst/>
                              <a:latin typeface="Cambria Math" panose="02040503050406030204" pitchFamily="18" charset="0"/>
                              <a:ea typeface="DFKai-SB" panose="03000509000000000000" pitchFamily="65" charset="-120"/>
                              <a:cs typeface="Times New Roman" panose="02020603050405020304" pitchFamily="18" charset="0"/>
                            </a:rPr>
                            <m:t>|</m:t>
                          </m:r>
                        </m:den>
                      </m:f>
                    </m:oMath>
                  </m:oMathPara>
                </a14:m>
                <a:endParaRPr lang="zh-TW" altLang="zh-TW" dirty="0">
                  <a:effectLst/>
                  <a:latin typeface="DFKai-SB" panose="03000509000000000000" pitchFamily="65" charset="-120"/>
                  <a:ea typeface="DFKai-SB" panose="03000509000000000000" pitchFamily="65" charset="-120"/>
                  <a:cs typeface="Times New Roman" panose="02020603050405020304" pitchFamily="18" charset="0"/>
                </a:endParaRPr>
              </a:p>
              <a:p>
                <a:pPr marL="77470" indent="0">
                  <a:spcBef>
                    <a:spcPts val="600"/>
                  </a:spcBef>
                  <a:buNone/>
                </a:pPr>
                <a:r>
                  <a:rPr lang="en-US" altLang="zh-TW" dirty="0">
                    <a:effectLst/>
                    <a:latin typeface="DFKai-SB" panose="03000509000000000000" pitchFamily="65" charset="-120"/>
                    <a:ea typeface="DFKai-SB" panose="03000509000000000000" pitchFamily="65" charset="-120"/>
                    <a:cs typeface="Times New Roman" panose="02020603050405020304" pitchFamily="18" charset="0"/>
                  </a:rPr>
                  <a:t>A</a:t>
                </a: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和</a:t>
                </a:r>
                <a:r>
                  <a:rPr lang="en-US" altLang="zh-TW" dirty="0">
                    <a:effectLst/>
                    <a:latin typeface="DFKai-SB" panose="03000509000000000000" pitchFamily="65" charset="-120"/>
                    <a:ea typeface="DFKai-SB" panose="03000509000000000000" pitchFamily="65" charset="-120"/>
                    <a:cs typeface="Times New Roman" panose="02020603050405020304" pitchFamily="18" charset="0"/>
                  </a:rPr>
                  <a:t>B</a:t>
                </a:r>
                <a:r>
                  <a:rPr lang="zh-TW" altLang="zh-TW" dirty="0">
                    <a:effectLst/>
                    <a:latin typeface="DFKai-SB" panose="03000509000000000000" pitchFamily="65" charset="-120"/>
                    <a:ea typeface="DFKai-SB" panose="03000509000000000000" pitchFamily="65" charset="-120"/>
                    <a:cs typeface="Times New Roman" panose="02020603050405020304" pitchFamily="18" charset="0"/>
                  </a:rPr>
                  <a:t>分別代表兩個句子的詞集合</a:t>
                </a:r>
              </a:p>
              <a:p>
                <a:pPr marL="0" indent="0">
                  <a:buNone/>
                </a:pPr>
                <a:endParaRPr lang="en-US" altLang="zh-TW" dirty="0"/>
              </a:p>
            </p:txBody>
          </p:sp>
        </mc:Choice>
        <mc:Fallback xmlns="">
          <p:sp>
            <p:nvSpPr>
              <p:cNvPr id="3" name="內容版面配置區 2">
                <a:extLst>
                  <a:ext uri="{FF2B5EF4-FFF2-40B4-BE49-F238E27FC236}">
                    <a16:creationId xmlns:a16="http://schemas.microsoft.com/office/drawing/2014/main" id="{ABDFA1E8-0716-1DD2-7C52-624F35BAE368}"/>
                  </a:ext>
                </a:extLst>
              </p:cNvPr>
              <p:cNvSpPr>
                <a:spLocks noGrp="1" noRot="1" noChangeAspect="1" noMove="1" noResize="1" noEditPoints="1" noAdjustHandles="1" noChangeArrowheads="1" noChangeShapeType="1" noTextEdit="1"/>
              </p:cNvSpPr>
              <p:nvPr>
                <p:ph idx="1"/>
              </p:nvPr>
            </p:nvSpPr>
            <p:spPr>
              <a:blipFill>
                <a:blip r:embed="rId3"/>
                <a:stretch>
                  <a:fillRect l="-627" t="-816"/>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A4AB3924-8B48-3279-EF05-EBBF3E80B78B}"/>
              </a:ext>
            </a:extLst>
          </p:cNvPr>
          <p:cNvSpPr>
            <a:spLocks noGrp="1"/>
          </p:cNvSpPr>
          <p:nvPr>
            <p:ph type="sldNum" sz="quarter" idx="12"/>
          </p:nvPr>
        </p:nvSpPr>
        <p:spPr/>
        <p:txBody>
          <a:bodyPr/>
          <a:lstStyle/>
          <a:p>
            <a:fld id="{87E7843D-FF13-4365-9478-9625B70A2705}" type="slidenum">
              <a:rPr lang="en-US" smtClean="0"/>
              <a:t>10</a:t>
            </a:fld>
            <a:endParaRPr lang="en-US"/>
          </a:p>
        </p:txBody>
      </p:sp>
    </p:spTree>
    <p:extLst>
      <p:ext uri="{BB962C8B-B14F-4D97-AF65-F5344CB8AC3E}">
        <p14:creationId xmlns:p14="http://schemas.microsoft.com/office/powerpoint/2010/main" val="2949284285"/>
      </p:ext>
    </p:extLst>
  </p:cSld>
  <p:clrMapOvr>
    <a:masterClrMapping/>
  </p:clrMapOvr>
  <mc:AlternateContent xmlns:mc="http://schemas.openxmlformats.org/markup-compatibility/2006">
    <mc:Choice xmlns:p14="http://schemas.microsoft.com/office/powerpoint/2010/main" Requires="p14">
      <p:transition spd="slow" p14:dur="2000" advTm="41319"/>
    </mc:Choice>
    <mc:Fallback>
      <p:transition spd="slow" advTm="4131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简约小清新莫兰迪色系ppt背景-背景-爱西西">
            <a:extLst>
              <a:ext uri="{FF2B5EF4-FFF2-40B4-BE49-F238E27FC236}">
                <a16:creationId xmlns:a16="http://schemas.microsoft.com/office/drawing/2014/main" id="{A8FCA13F-F5A7-B8CD-4468-8A8D452AAB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標題 1">
            <a:extLst>
              <a:ext uri="{FF2B5EF4-FFF2-40B4-BE49-F238E27FC236}">
                <a16:creationId xmlns:a16="http://schemas.microsoft.com/office/drawing/2014/main" id="{B2EA0626-992D-8E43-061C-463E7DFBD512}"/>
              </a:ext>
            </a:extLst>
          </p:cNvPr>
          <p:cNvSpPr>
            <a:spLocks noGrp="1"/>
          </p:cNvSpPr>
          <p:nvPr>
            <p:ph type="title"/>
          </p:nvPr>
        </p:nvSpPr>
        <p:spPr>
          <a:xfrm>
            <a:off x="969718" y="723900"/>
            <a:ext cx="10691813" cy="1155618"/>
          </a:xfrm>
        </p:spPr>
        <p:txBody>
          <a:bodyPr>
            <a:normAutofit/>
          </a:bodyPr>
          <a:lstStyle/>
          <a:p>
            <a:pPr algn="ctr"/>
            <a:r>
              <a:rPr lang="zh-TW" altLang="zh-TW" sz="4000" dirty="0">
                <a:effectLst/>
                <a:ea typeface="DFKai-SB" panose="03000509000000000000" pitchFamily="65" charset="-120"/>
                <a:cs typeface="Times New Roman" panose="02020603050405020304" pitchFamily="18" charset="0"/>
              </a:rPr>
              <a:t>分切方式</a:t>
            </a:r>
            <a:endParaRPr lang="zh-TW" altLang="en-US" dirty="0"/>
          </a:p>
        </p:txBody>
      </p:sp>
      <p:graphicFrame>
        <p:nvGraphicFramePr>
          <p:cNvPr id="5" name="內容版面配置區 2">
            <a:extLst>
              <a:ext uri="{FF2B5EF4-FFF2-40B4-BE49-F238E27FC236}">
                <a16:creationId xmlns:a16="http://schemas.microsoft.com/office/drawing/2014/main" id="{E93BA57D-B6A4-71EE-82F8-A62BB81CA07E}"/>
              </a:ext>
            </a:extLst>
          </p:cNvPr>
          <p:cNvGraphicFramePr>
            <a:graphicFrameLocks noGrp="1"/>
          </p:cNvGraphicFramePr>
          <p:nvPr>
            <p:ph idx="1"/>
            <p:extLst>
              <p:ext uri="{D42A27DB-BD31-4B8C-83A1-F6EECF244321}">
                <p14:modId xmlns:p14="http://schemas.microsoft.com/office/powerpoint/2010/main" val="2670295219"/>
              </p:ext>
            </p:extLst>
          </p:nvPr>
        </p:nvGraphicFramePr>
        <p:xfrm>
          <a:off x="700088" y="2222500"/>
          <a:ext cx="10691812" cy="37401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投影片編號版面配置區 2">
            <a:extLst>
              <a:ext uri="{FF2B5EF4-FFF2-40B4-BE49-F238E27FC236}">
                <a16:creationId xmlns:a16="http://schemas.microsoft.com/office/drawing/2014/main" id="{D58306DC-5DF1-98A5-F8DB-C7F134D32813}"/>
              </a:ext>
            </a:extLst>
          </p:cNvPr>
          <p:cNvSpPr>
            <a:spLocks noGrp="1"/>
          </p:cNvSpPr>
          <p:nvPr>
            <p:ph type="sldNum" sz="quarter" idx="12"/>
          </p:nvPr>
        </p:nvSpPr>
        <p:spPr/>
        <p:txBody>
          <a:bodyPr/>
          <a:lstStyle/>
          <a:p>
            <a:fld id="{87E7843D-FF13-4365-9478-9625B70A2705}" type="slidenum">
              <a:rPr lang="en-US" smtClean="0"/>
              <a:t>11</a:t>
            </a:fld>
            <a:endParaRPr lang="en-US"/>
          </a:p>
        </p:txBody>
      </p:sp>
    </p:spTree>
    <p:extLst>
      <p:ext uri="{BB962C8B-B14F-4D97-AF65-F5344CB8AC3E}">
        <p14:creationId xmlns:p14="http://schemas.microsoft.com/office/powerpoint/2010/main" val="4034732305"/>
      </p:ext>
    </p:extLst>
  </p:cSld>
  <p:clrMapOvr>
    <a:masterClrMapping/>
  </p:clrMapOvr>
  <mc:AlternateContent xmlns:mc="http://schemas.openxmlformats.org/markup-compatibility/2006">
    <mc:Choice xmlns:p14="http://schemas.microsoft.com/office/powerpoint/2010/main" Requires="p14">
      <p:transition spd="slow" p14:dur="2000" advTm="69641"/>
    </mc:Choice>
    <mc:Fallback>
      <p:transition spd="slow" advTm="6964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BACECF00-9F1F-F98F-02D5-691F641CD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7084A6D2-383D-6961-7178-37BB5622FDCC}"/>
              </a:ext>
            </a:extLst>
          </p:cNvPr>
          <p:cNvSpPr>
            <a:spLocks noGrp="1"/>
          </p:cNvSpPr>
          <p:nvPr>
            <p:ph type="title"/>
          </p:nvPr>
        </p:nvSpPr>
        <p:spPr/>
        <p:txBody>
          <a:bodyPr>
            <a:noAutofit/>
          </a:bodyPr>
          <a:lstStyle/>
          <a:p>
            <a:pPr algn="ctr"/>
            <a: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t>實驗性能分析與比較</a:t>
            </a:r>
            <a:b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22F22A29-FB86-F383-A62A-C906724384D3}"/>
                  </a:ext>
                </a:extLst>
              </p:cNvPr>
              <p:cNvSpPr>
                <a:spLocks noGrp="1"/>
              </p:cNvSpPr>
              <p:nvPr>
                <p:ph idx="1"/>
              </p:nvPr>
            </p:nvSpPr>
            <p:spPr/>
            <p:txBody>
              <a:bodyPr/>
              <a:lstStyle/>
              <a:p>
                <a:pPr marL="77470" indent="0">
                  <a:spcBef>
                    <a:spcPts val="600"/>
                  </a:spcBef>
                  <a:buNone/>
                </a:pP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使用了</a:t>
                </a:r>
                <a:r>
                  <a:rPr lang="en-US" altLang="zh-TW" sz="2400" dirty="0" err="1">
                    <a:effectLst/>
                    <a:latin typeface="DFKai-SB" panose="03000509000000000000" pitchFamily="65" charset="-120"/>
                    <a:ea typeface="DFKai-SB" panose="03000509000000000000" pitchFamily="65" charset="-120"/>
                    <a:cs typeface="Times New Roman" panose="02020603050405020304" pitchFamily="18" charset="0"/>
                  </a:rPr>
                  <a:t>Prcesion,Recall</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和</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F-measure</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進行分類器的評估</a:t>
                </a:r>
              </a:p>
              <a:p>
                <a:pPr marL="306070">
                  <a:spcBef>
                    <a:spcPts val="600"/>
                  </a:spcBef>
                </a:pPr>
                <a:r>
                  <a:rPr lang="en-US" altLang="zh-TW" sz="2400" dirty="0" err="1">
                    <a:effectLst/>
                    <a:latin typeface="DFKai-SB" panose="03000509000000000000" pitchFamily="65" charset="-120"/>
                    <a:ea typeface="DFKai-SB" panose="03000509000000000000" pitchFamily="65" charset="-120"/>
                    <a:cs typeface="Times New Roman" panose="02020603050405020304" pitchFamily="18" charset="0"/>
                  </a:rPr>
                  <a:t>Precison</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 </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預測正確個數</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真正是憤怒的</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系統預測個數</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系統標記幾個憤怒</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a:t>
                </a:r>
                <a:endParaRPr lang="zh-TW" altLang="zh-TW" sz="2400" dirty="0">
                  <a:effectLst/>
                  <a:latin typeface="DFKai-SB" panose="03000509000000000000" pitchFamily="65" charset="-120"/>
                  <a:ea typeface="DFKai-SB" panose="03000509000000000000" pitchFamily="65" charset="-120"/>
                  <a:cs typeface="Times New Roman" panose="02020603050405020304" pitchFamily="18" charset="0"/>
                </a:endParaRPr>
              </a:p>
              <a:p>
                <a:pPr marL="306070">
                  <a:spcBef>
                    <a:spcPts val="600"/>
                  </a:spcBef>
                </a:pP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Recall: </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系統猜對的個數</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正解個數</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a:t>
                </a:r>
                <a:r>
                  <a:rPr lang="zh-TW" altLang="zh-TW" sz="2400" dirty="0">
                    <a:effectLst/>
                    <a:latin typeface="DFKai-SB" panose="03000509000000000000" pitchFamily="65" charset="-120"/>
                    <a:ea typeface="DFKai-SB" panose="03000509000000000000" pitchFamily="65" charset="-120"/>
                    <a:cs typeface="Times New Roman" panose="02020603050405020304" pitchFamily="18" charset="0"/>
                  </a:rPr>
                  <a:t>事前知道，正確答案屬於哪種類別的個數</a:t>
                </a: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a:t>
                </a:r>
                <a:endParaRPr lang="zh-TW" altLang="zh-TW" sz="2400" dirty="0">
                  <a:effectLst/>
                  <a:latin typeface="DFKai-SB" panose="03000509000000000000" pitchFamily="65" charset="-120"/>
                  <a:ea typeface="DFKai-SB" panose="03000509000000000000" pitchFamily="65" charset="-120"/>
                  <a:cs typeface="Times New Roman" panose="02020603050405020304" pitchFamily="18" charset="0"/>
                </a:endParaRPr>
              </a:p>
              <a:p>
                <a:pPr marL="306070">
                  <a:spcBef>
                    <a:spcPts val="600"/>
                  </a:spcBef>
                </a:pPr>
                <a:r>
                  <a:rPr lang="en-US" altLang="zh-TW" sz="2400" dirty="0">
                    <a:effectLst/>
                    <a:latin typeface="DFKai-SB" panose="03000509000000000000" pitchFamily="65" charset="-120"/>
                    <a:ea typeface="DFKai-SB" panose="03000509000000000000" pitchFamily="65" charset="-120"/>
                    <a:cs typeface="Times New Roman" panose="02020603050405020304" pitchFamily="18" charset="0"/>
                  </a:rPr>
                  <a:t>F-measure=</a:t>
                </a:r>
                <a14:m>
                  <m:oMath xmlns:m="http://schemas.openxmlformats.org/officeDocument/2006/math">
                    <m:r>
                      <a:rPr lang="en-US" altLang="zh-TW" sz="2400" i="1">
                        <a:effectLst/>
                        <a:latin typeface="Cambria Math" panose="02040503050406030204" pitchFamily="18" charset="0"/>
                        <a:ea typeface="DFKai-SB" panose="03000509000000000000" pitchFamily="65" charset="-120"/>
                        <a:cs typeface="Times New Roman" panose="02020603050405020304" pitchFamily="18" charset="0"/>
                      </a:rPr>
                      <m:t> </m:t>
                    </m:r>
                    <m:f>
                      <m:fPr>
                        <m:ctrlPr>
                          <a:rPr lang="zh-TW" altLang="zh-TW" sz="2400" i="1">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TW" sz="2400" i="1">
                            <a:effectLst/>
                            <a:latin typeface="Cambria Math" panose="02040503050406030204" pitchFamily="18" charset="0"/>
                            <a:ea typeface="DFKai-SB" panose="03000509000000000000" pitchFamily="65" charset="-120"/>
                            <a:cs typeface="Times New Roman" panose="02020603050405020304" pitchFamily="18" charset="0"/>
                          </a:rPr>
                          <m:t>2∗</m:t>
                        </m:r>
                        <m:r>
                          <a:rPr lang="en-US" altLang="zh-TW" sz="2400" i="1">
                            <a:effectLst/>
                            <a:latin typeface="Cambria Math" panose="02040503050406030204" pitchFamily="18" charset="0"/>
                            <a:ea typeface="DFKai-SB" panose="03000509000000000000" pitchFamily="65" charset="-120"/>
                            <a:cs typeface="Times New Roman" panose="02020603050405020304" pitchFamily="18" charset="0"/>
                          </a:rPr>
                          <m:t>𝑃𝑟𝑒𝑐𝑖𝑠𝑖𝑜𝑛</m:t>
                        </m:r>
                      </m:num>
                      <m:den>
                        <m:r>
                          <a:rPr lang="en-US" altLang="zh-TW" sz="2400" i="1">
                            <a:effectLst/>
                            <a:latin typeface="Cambria Math" panose="02040503050406030204" pitchFamily="18" charset="0"/>
                            <a:ea typeface="DFKai-SB" panose="03000509000000000000" pitchFamily="65" charset="-120"/>
                            <a:cs typeface="Times New Roman" panose="02020603050405020304" pitchFamily="18" charset="0"/>
                          </a:rPr>
                          <m:t>𝑃𝑟𝑒𝑐𝑖𝑠𝑖𝑜𝑛</m:t>
                        </m:r>
                        <m:r>
                          <a:rPr lang="en-US" altLang="zh-TW" sz="2400" i="1">
                            <a:effectLst/>
                            <a:latin typeface="Cambria Math" panose="02040503050406030204" pitchFamily="18" charset="0"/>
                            <a:ea typeface="DFKai-SB" panose="03000509000000000000" pitchFamily="65" charset="-120"/>
                            <a:cs typeface="Times New Roman" panose="02020603050405020304" pitchFamily="18" charset="0"/>
                          </a:rPr>
                          <m:t>+</m:t>
                        </m:r>
                        <m:r>
                          <a:rPr lang="en-US" altLang="zh-TW" sz="2400" i="1">
                            <a:effectLst/>
                            <a:latin typeface="Cambria Math" panose="02040503050406030204" pitchFamily="18" charset="0"/>
                            <a:ea typeface="DFKai-SB" panose="03000509000000000000" pitchFamily="65" charset="-120"/>
                            <a:cs typeface="Times New Roman" panose="02020603050405020304" pitchFamily="18" charset="0"/>
                          </a:rPr>
                          <m:t>𝑅𝑒𝑐𝑎𝑙𝑙</m:t>
                        </m:r>
                      </m:den>
                    </m:f>
                  </m:oMath>
                </a14:m>
                <a:endParaRPr lang="zh-TW" altLang="zh-TW" sz="2400" dirty="0">
                  <a:effectLst/>
                  <a:latin typeface="DFKai-SB" panose="03000509000000000000" pitchFamily="65" charset="-120"/>
                  <a:ea typeface="DFKai-SB" panose="03000509000000000000" pitchFamily="65" charset="-120"/>
                  <a:cs typeface="Times New Roman" panose="02020603050405020304" pitchFamily="18" charset="0"/>
                </a:endParaRPr>
              </a:p>
              <a:p>
                <a:endParaRPr lang="zh-TW" altLang="en-US" dirty="0"/>
              </a:p>
            </p:txBody>
          </p:sp>
        </mc:Choice>
        <mc:Fallback xmlns="">
          <p:sp>
            <p:nvSpPr>
              <p:cNvPr id="3" name="內容版面配置區 2">
                <a:extLst>
                  <a:ext uri="{FF2B5EF4-FFF2-40B4-BE49-F238E27FC236}">
                    <a16:creationId xmlns:a16="http://schemas.microsoft.com/office/drawing/2014/main" id="{22F22A29-FB86-F383-A62A-C906724384D3}"/>
                  </a:ext>
                </a:extLst>
              </p:cNvPr>
              <p:cNvSpPr>
                <a:spLocks noGrp="1" noRot="1" noChangeAspect="1" noMove="1" noResize="1" noEditPoints="1" noAdjustHandles="1" noChangeArrowheads="1" noChangeShapeType="1" noTextEdit="1"/>
              </p:cNvSpPr>
              <p:nvPr>
                <p:ph idx="1"/>
              </p:nvPr>
            </p:nvSpPr>
            <p:spPr>
              <a:blipFill>
                <a:blip r:embed="rId3"/>
                <a:stretch>
                  <a:fillRect l="-171" t="-979" r="-912"/>
                </a:stretch>
              </a:blipFill>
            </p:spPr>
            <p:txBody>
              <a:bodyPr/>
              <a:lstStyle/>
              <a:p>
                <a:r>
                  <a:rPr lang="zh-TW" altLang="en-US">
                    <a:noFill/>
                  </a:rPr>
                  <a:t> </a:t>
                </a:r>
              </a:p>
            </p:txBody>
          </p:sp>
        </mc:Fallback>
      </mc:AlternateContent>
      <p:sp>
        <p:nvSpPr>
          <p:cNvPr id="5" name="投影片編號版面配置區 4">
            <a:extLst>
              <a:ext uri="{FF2B5EF4-FFF2-40B4-BE49-F238E27FC236}">
                <a16:creationId xmlns:a16="http://schemas.microsoft.com/office/drawing/2014/main" id="{4380EDDD-A920-ECDD-05C0-A1A4B500FFB3}"/>
              </a:ext>
            </a:extLst>
          </p:cNvPr>
          <p:cNvSpPr>
            <a:spLocks noGrp="1"/>
          </p:cNvSpPr>
          <p:nvPr>
            <p:ph type="sldNum" sz="quarter" idx="12"/>
          </p:nvPr>
        </p:nvSpPr>
        <p:spPr/>
        <p:txBody>
          <a:bodyPr/>
          <a:lstStyle/>
          <a:p>
            <a:fld id="{87E7843D-FF13-4365-9478-9625B70A2705}" type="slidenum">
              <a:rPr lang="en-US" smtClean="0"/>
              <a:t>12</a:t>
            </a:fld>
            <a:endParaRPr lang="en-US"/>
          </a:p>
        </p:txBody>
      </p:sp>
    </p:spTree>
    <p:extLst>
      <p:ext uri="{BB962C8B-B14F-4D97-AF65-F5344CB8AC3E}">
        <p14:creationId xmlns:p14="http://schemas.microsoft.com/office/powerpoint/2010/main" val="2144291841"/>
      </p:ext>
    </p:extLst>
  </p:cSld>
  <p:clrMapOvr>
    <a:masterClrMapping/>
  </p:clrMapOvr>
  <mc:AlternateContent xmlns:mc="http://schemas.openxmlformats.org/markup-compatibility/2006">
    <mc:Choice xmlns:p14="http://schemas.microsoft.com/office/powerpoint/2010/main" Requires="p14">
      <p:transition spd="slow" p14:dur="2000" advTm="16663"/>
    </mc:Choice>
    <mc:Fallback>
      <p:transition spd="slow" advTm="1666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BACECF00-9F1F-F98F-02D5-691F641CD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7084A6D2-383D-6961-7178-37BB5622FDCC}"/>
              </a:ext>
            </a:extLst>
          </p:cNvPr>
          <p:cNvSpPr>
            <a:spLocks noGrp="1"/>
          </p:cNvSpPr>
          <p:nvPr>
            <p:ph type="title"/>
          </p:nvPr>
        </p:nvSpPr>
        <p:spPr/>
        <p:txBody>
          <a:bodyPr>
            <a:noAutofit/>
          </a:bodyPr>
          <a:lstStyle/>
          <a:p>
            <a:pPr algn="ctr"/>
            <a:r>
              <a:rPr lang="zh-TW" altLang="zh-TW" b="1" dirty="0">
                <a:latin typeface="DFKai-SB" panose="03000509000000000000" pitchFamily="65" charset="-120"/>
                <a:ea typeface="DFKai-SB" panose="03000509000000000000" pitchFamily="65" charset="-120"/>
                <a:cs typeface="Times New Roman" panose="02020603050405020304" pitchFamily="18" charset="0"/>
              </a:rPr>
              <a:t>實驗</a:t>
            </a:r>
            <a:r>
              <a:rPr lang="zh-TW" altLang="en-US" b="1" dirty="0">
                <a:latin typeface="DFKai-SB" panose="03000509000000000000" pitchFamily="65" charset="-120"/>
                <a:ea typeface="DFKai-SB" panose="03000509000000000000" pitchFamily="65" charset="-120"/>
                <a:cs typeface="Times New Roman" panose="02020603050405020304" pitchFamily="18" charset="0"/>
              </a:rPr>
              <a:t>方式</a:t>
            </a:r>
            <a:br>
              <a:rPr lang="zh-TW" altLang="zh-TW" b="1" dirty="0">
                <a:effectLst/>
                <a:latin typeface="DFKai-SB" panose="03000509000000000000" pitchFamily="65" charset="-120"/>
                <a:ea typeface="DFKai-SB" panose="03000509000000000000" pitchFamily="65" charset="-120"/>
                <a:cs typeface="Times New Roman" panose="02020603050405020304" pitchFamily="18" charset="0"/>
              </a:rPr>
            </a:br>
            <a:endParaRPr lang="zh-TW" altLang="en-US" dirty="0"/>
          </a:p>
        </p:txBody>
      </p:sp>
      <p:sp>
        <p:nvSpPr>
          <p:cNvPr id="3" name="內容版面配置區 2">
            <a:extLst>
              <a:ext uri="{FF2B5EF4-FFF2-40B4-BE49-F238E27FC236}">
                <a16:creationId xmlns:a16="http://schemas.microsoft.com/office/drawing/2014/main" id="{22F22A29-FB86-F383-A62A-C906724384D3}"/>
              </a:ext>
            </a:extLst>
          </p:cNvPr>
          <p:cNvSpPr>
            <a:spLocks noGrp="1"/>
          </p:cNvSpPr>
          <p:nvPr>
            <p:ph idx="1"/>
          </p:nvPr>
        </p:nvSpPr>
        <p:spPr/>
        <p:txBody>
          <a:bodyPr/>
          <a:lstStyle/>
          <a:p>
            <a:pPr marL="77470" indent="0">
              <a:spcBef>
                <a:spcPts val="600"/>
              </a:spcBef>
              <a:buNone/>
            </a:pPr>
            <a:r>
              <a:rPr lang="zh-TW" altLang="en-US" sz="2400" dirty="0">
                <a:latin typeface="DFKai-SB" panose="03000509000000000000" pitchFamily="65" charset="-120"/>
                <a:ea typeface="DFKai-SB" panose="03000509000000000000" pitchFamily="65" charset="-120"/>
                <a:cs typeface="Times New Roman" panose="02020603050405020304" pitchFamily="18" charset="0"/>
              </a:rPr>
              <a:t>採用</a:t>
            </a:r>
            <a:r>
              <a:rPr lang="en-US" altLang="zh-TW" sz="2400" dirty="0">
                <a:latin typeface="DFKai-SB" panose="03000509000000000000" pitchFamily="65" charset="-120"/>
                <a:ea typeface="DFKai-SB" panose="03000509000000000000" pitchFamily="65" charset="-120"/>
                <a:cs typeface="Times New Roman" panose="02020603050405020304" pitchFamily="18" charset="0"/>
              </a:rPr>
              <a:t>Google BERT-base-</a:t>
            </a:r>
            <a:r>
              <a:rPr lang="en-US" altLang="zh-TW" sz="2400" dirty="0" err="1">
                <a:latin typeface="DFKai-SB" panose="03000509000000000000" pitchFamily="65" charset="-120"/>
                <a:ea typeface="DFKai-SB" panose="03000509000000000000" pitchFamily="65" charset="-120"/>
                <a:cs typeface="Times New Roman" panose="02020603050405020304" pitchFamily="18" charset="0"/>
              </a:rPr>
              <a:t>chinese</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模型，分別對各平台數據進行</a:t>
            </a:r>
            <a:endParaRPr lang="en-US" altLang="zh-TW" sz="2400" dirty="0">
              <a:latin typeface="DFKai-SB" panose="03000509000000000000" pitchFamily="65" charset="-120"/>
              <a:ea typeface="DFKai-SB" panose="03000509000000000000" pitchFamily="65" charset="-120"/>
              <a:cs typeface="Times New Roman" panose="02020603050405020304" pitchFamily="18" charset="0"/>
            </a:endParaRPr>
          </a:p>
          <a:p>
            <a:pPr marL="77470" indent="0">
              <a:spcBef>
                <a:spcPts val="600"/>
              </a:spcBef>
              <a:buNone/>
            </a:pPr>
            <a:r>
              <a:rPr lang="en-US" altLang="zh-TW" sz="2400" dirty="0">
                <a:latin typeface="DFKai-SB" panose="03000509000000000000" pitchFamily="65" charset="-120"/>
                <a:ea typeface="DFKai-SB" panose="03000509000000000000" pitchFamily="65" charset="-120"/>
                <a:cs typeface="Times New Roman" panose="02020603050405020304" pitchFamily="18" charset="0"/>
              </a:rPr>
              <a:t>(1)</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兩階段分類</a:t>
            </a:r>
            <a:endParaRPr lang="en-US" altLang="zh-TW" sz="2400" dirty="0">
              <a:latin typeface="DFKai-SB" panose="03000509000000000000" pitchFamily="65" charset="-120"/>
              <a:ea typeface="DFKai-SB" panose="03000509000000000000" pitchFamily="65" charset="-120"/>
              <a:cs typeface="Times New Roman" panose="02020603050405020304" pitchFamily="18" charset="0"/>
            </a:endParaRPr>
          </a:p>
          <a:p>
            <a:pPr marL="77470" indent="0">
              <a:spcBef>
                <a:spcPts val="600"/>
              </a:spcBef>
              <a:buNone/>
            </a:pPr>
            <a:r>
              <a:rPr lang="en-US" altLang="zh-TW" sz="2400" dirty="0">
                <a:latin typeface="DFKai-SB" panose="03000509000000000000" pitchFamily="65" charset="-120"/>
                <a:ea typeface="DFKai-SB" panose="03000509000000000000" pitchFamily="65" charset="-120"/>
                <a:cs typeface="Times New Roman" panose="02020603050405020304" pitchFamily="18" charset="0"/>
              </a:rPr>
              <a:t>	</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第一階段先將資料分為有情緒和看不出情緒</a:t>
            </a:r>
            <a:endParaRPr lang="en-US" altLang="zh-TW" sz="2400" dirty="0">
              <a:latin typeface="DFKai-SB" panose="03000509000000000000" pitchFamily="65" charset="-120"/>
              <a:ea typeface="DFKai-SB" panose="03000509000000000000" pitchFamily="65" charset="-120"/>
              <a:cs typeface="Times New Roman" panose="02020603050405020304" pitchFamily="18" charset="0"/>
            </a:endParaRPr>
          </a:p>
          <a:p>
            <a:pPr marL="77470" indent="0">
              <a:spcBef>
                <a:spcPts val="600"/>
              </a:spcBef>
              <a:buNone/>
            </a:pPr>
            <a:r>
              <a:rPr lang="en-US" altLang="zh-TW" sz="2400" dirty="0">
                <a:latin typeface="DFKai-SB" panose="03000509000000000000" pitchFamily="65" charset="-120"/>
                <a:ea typeface="DFKai-SB" panose="03000509000000000000" pitchFamily="65" charset="-120"/>
                <a:cs typeface="Times New Roman" panose="02020603050405020304" pitchFamily="18" charset="0"/>
              </a:rPr>
              <a:t>	</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第二階段再將有情緒的資料細分出情緒類別</a:t>
            </a:r>
            <a:endParaRPr lang="en-US" altLang="zh-TW" sz="2400" dirty="0">
              <a:latin typeface="DFKai-SB" panose="03000509000000000000" pitchFamily="65" charset="-120"/>
              <a:ea typeface="DFKai-SB" panose="03000509000000000000" pitchFamily="65" charset="-120"/>
              <a:cs typeface="Times New Roman" panose="02020603050405020304" pitchFamily="18" charset="0"/>
            </a:endParaRPr>
          </a:p>
          <a:p>
            <a:pPr marL="77470" indent="0">
              <a:spcBef>
                <a:spcPts val="600"/>
              </a:spcBef>
              <a:buNone/>
            </a:pPr>
            <a:r>
              <a:rPr lang="en-US" altLang="zh-TW" sz="2400" dirty="0">
                <a:latin typeface="DFKai-SB" panose="03000509000000000000" pitchFamily="65" charset="-120"/>
                <a:ea typeface="DFKai-SB" panose="03000509000000000000" pitchFamily="65" charset="-120"/>
                <a:cs typeface="Times New Roman" panose="02020603050405020304" pitchFamily="18" charset="0"/>
              </a:rPr>
              <a:t>(2)</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直接六分類訓練。</a:t>
            </a:r>
            <a:endParaRPr lang="en-US" altLang="zh-TW" sz="2400" dirty="0">
              <a:latin typeface="DFKai-SB" panose="03000509000000000000" pitchFamily="65" charset="-120"/>
              <a:ea typeface="DFKai-SB" panose="03000509000000000000" pitchFamily="65" charset="-120"/>
              <a:cs typeface="Times New Roman" panose="02020603050405020304" pitchFamily="18" charset="0"/>
            </a:endParaRPr>
          </a:p>
          <a:p>
            <a:pPr marL="77470" indent="0">
              <a:spcBef>
                <a:spcPts val="600"/>
              </a:spcBef>
              <a:buNone/>
            </a:pPr>
            <a:r>
              <a:rPr lang="en-US" altLang="zh-TW" sz="2400" dirty="0">
                <a:latin typeface="DFKai-SB" panose="03000509000000000000" pitchFamily="65" charset="-120"/>
                <a:ea typeface="DFKai-SB" panose="03000509000000000000" pitchFamily="65" charset="-120"/>
                <a:cs typeface="Times New Roman" panose="02020603050405020304" pitchFamily="18" charset="0"/>
              </a:rPr>
              <a:t>	</a:t>
            </a:r>
            <a:r>
              <a:rPr lang="zh-TW" altLang="en-US" sz="2400" dirty="0">
                <a:latin typeface="DFKai-SB" panose="03000509000000000000" pitchFamily="65" charset="-120"/>
                <a:ea typeface="DFKai-SB" panose="03000509000000000000" pitchFamily="65" charset="-120"/>
                <a:cs typeface="Times New Roman" panose="02020603050405020304" pitchFamily="18" charset="0"/>
              </a:rPr>
              <a:t>直接分出所有情緒類別包括看不出情緒</a:t>
            </a:r>
            <a:endParaRPr lang="en-US" altLang="zh-TW" sz="2400" dirty="0">
              <a:latin typeface="DFKai-SB" panose="03000509000000000000" pitchFamily="65" charset="-120"/>
              <a:ea typeface="DFKai-SB" panose="03000509000000000000" pitchFamily="65" charset="-120"/>
              <a:cs typeface="Times New Roman" panose="02020603050405020304" pitchFamily="18" charset="0"/>
            </a:endParaRPr>
          </a:p>
          <a:p>
            <a:pPr marL="306070">
              <a:spcBef>
                <a:spcPts val="600"/>
              </a:spcBef>
            </a:pPr>
            <a:endParaRPr lang="zh-TW" altLang="zh-TW" sz="2400" dirty="0">
              <a:effectLst/>
              <a:latin typeface="DFKai-SB" panose="03000509000000000000" pitchFamily="65" charset="-120"/>
              <a:ea typeface="DFKai-SB" panose="03000509000000000000" pitchFamily="65" charset="-120"/>
              <a:cs typeface="Times New Roman" panose="02020603050405020304" pitchFamily="18" charset="0"/>
            </a:endParaRPr>
          </a:p>
          <a:p>
            <a:endParaRPr lang="zh-TW" altLang="en-US" dirty="0"/>
          </a:p>
        </p:txBody>
      </p:sp>
      <p:sp>
        <p:nvSpPr>
          <p:cNvPr id="5" name="投影片編號版面配置區 4">
            <a:extLst>
              <a:ext uri="{FF2B5EF4-FFF2-40B4-BE49-F238E27FC236}">
                <a16:creationId xmlns:a16="http://schemas.microsoft.com/office/drawing/2014/main" id="{4380EDDD-A920-ECDD-05C0-A1A4B500FFB3}"/>
              </a:ext>
            </a:extLst>
          </p:cNvPr>
          <p:cNvSpPr>
            <a:spLocks noGrp="1"/>
          </p:cNvSpPr>
          <p:nvPr>
            <p:ph type="sldNum" sz="quarter" idx="12"/>
          </p:nvPr>
        </p:nvSpPr>
        <p:spPr/>
        <p:txBody>
          <a:bodyPr/>
          <a:lstStyle/>
          <a:p>
            <a:fld id="{87E7843D-FF13-4365-9478-9625B70A2705}" type="slidenum">
              <a:rPr lang="en-US" smtClean="0"/>
              <a:t>13</a:t>
            </a:fld>
            <a:endParaRPr lang="en-US"/>
          </a:p>
        </p:txBody>
      </p:sp>
    </p:spTree>
    <p:extLst>
      <p:ext uri="{BB962C8B-B14F-4D97-AF65-F5344CB8AC3E}">
        <p14:creationId xmlns:p14="http://schemas.microsoft.com/office/powerpoint/2010/main" val="2819849057"/>
      </p:ext>
    </p:extLst>
  </p:cSld>
  <p:clrMapOvr>
    <a:masterClrMapping/>
  </p:clrMapOvr>
  <mc:AlternateContent xmlns:mc="http://schemas.openxmlformats.org/markup-compatibility/2006">
    <mc:Choice xmlns:p14="http://schemas.microsoft.com/office/powerpoint/2010/main" Requires="p14">
      <p:transition spd="slow" p14:dur="2000" advTm="20537"/>
    </mc:Choice>
    <mc:Fallback>
      <p:transition spd="slow" advTm="2053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1BB12-8FF4-1734-D3C2-7BD808B37DE2}"/>
            </a:ext>
          </a:extLst>
        </p:cNvPr>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924B2C6C-11AF-8C60-6876-C7BB57DDA4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9E519838-2B6B-EBBC-B01C-E87A14932234}"/>
              </a:ext>
            </a:extLst>
          </p:cNvPr>
          <p:cNvSpPr>
            <a:spLocks noGrp="1"/>
          </p:cNvSpPr>
          <p:nvPr>
            <p:ph type="title"/>
          </p:nvPr>
        </p:nvSpPr>
        <p:spPr/>
        <p:txBody>
          <a:bodyPr>
            <a:noAutofit/>
          </a:bodyPr>
          <a:lstStyle/>
          <a:p>
            <a:pPr algn="ctr"/>
            <a:r>
              <a:rPr lang="zh-TW" altLang="en-US" b="1" dirty="0">
                <a:latin typeface="DFKai-SB" panose="03000509000000000000" pitchFamily="65" charset="-120"/>
                <a:ea typeface="DFKai-SB" panose="03000509000000000000" pitchFamily="65" charset="-120"/>
                <a:cs typeface="Times New Roman" panose="02020603050405020304" pitchFamily="18" charset="0"/>
              </a:rPr>
              <a:t>實驗結果</a:t>
            </a:r>
            <a:endParaRPr lang="zh-TW" altLang="en-US" dirty="0"/>
          </a:p>
        </p:txBody>
      </p:sp>
      <p:sp>
        <p:nvSpPr>
          <p:cNvPr id="3" name="投影片編號版面配置區 2">
            <a:extLst>
              <a:ext uri="{FF2B5EF4-FFF2-40B4-BE49-F238E27FC236}">
                <a16:creationId xmlns:a16="http://schemas.microsoft.com/office/drawing/2014/main" id="{9CD5251E-251D-4863-DFD8-65C97DFF16A0}"/>
              </a:ext>
            </a:extLst>
          </p:cNvPr>
          <p:cNvSpPr>
            <a:spLocks noGrp="1"/>
          </p:cNvSpPr>
          <p:nvPr>
            <p:ph type="sldNum" sz="quarter" idx="12"/>
          </p:nvPr>
        </p:nvSpPr>
        <p:spPr/>
        <p:txBody>
          <a:bodyPr/>
          <a:lstStyle/>
          <a:p>
            <a:fld id="{87E7843D-FF13-4365-9478-9625B70A2705}" type="slidenum">
              <a:rPr lang="en-US" smtClean="0"/>
              <a:t>14</a:t>
            </a:fld>
            <a:endParaRPr lang="en-US"/>
          </a:p>
        </p:txBody>
      </p:sp>
      <p:pic>
        <p:nvPicPr>
          <p:cNvPr id="11" name="內容版面配置區 10">
            <a:extLst>
              <a:ext uri="{FF2B5EF4-FFF2-40B4-BE49-F238E27FC236}">
                <a16:creationId xmlns:a16="http://schemas.microsoft.com/office/drawing/2014/main" id="{6C63552A-A402-1C3C-08EE-077B755C9781}"/>
              </a:ext>
            </a:extLst>
          </p:cNvPr>
          <p:cNvPicPr>
            <a:picLocks noGrp="1" noChangeAspect="1"/>
          </p:cNvPicPr>
          <p:nvPr>
            <p:ph idx="1"/>
          </p:nvPr>
        </p:nvPicPr>
        <p:blipFill>
          <a:blip r:embed="rId3"/>
          <a:stretch>
            <a:fillRect/>
          </a:stretch>
        </p:blipFill>
        <p:spPr>
          <a:xfrm>
            <a:off x="2758728" y="2203450"/>
            <a:ext cx="6674544" cy="3740150"/>
          </a:xfrm>
        </p:spPr>
      </p:pic>
    </p:spTree>
    <p:extLst>
      <p:ext uri="{BB962C8B-B14F-4D97-AF65-F5344CB8AC3E}">
        <p14:creationId xmlns:p14="http://schemas.microsoft.com/office/powerpoint/2010/main" val="2667085624"/>
      </p:ext>
    </p:extLst>
  </p:cSld>
  <p:clrMapOvr>
    <a:masterClrMapping/>
  </p:clrMapOvr>
  <mc:AlternateContent xmlns:mc="http://schemas.openxmlformats.org/markup-compatibility/2006">
    <mc:Choice xmlns:p14="http://schemas.microsoft.com/office/powerpoint/2010/main" Requires="p14">
      <p:transition spd="slow" p14:dur="2000" advTm="15791"/>
    </mc:Choice>
    <mc:Fallback>
      <p:transition spd="slow" advTm="1579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199E3-CE1A-36D8-B7FE-1194C3C22BB6}"/>
            </a:ext>
          </a:extLst>
        </p:cNvPr>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FD6E3375-40C9-2B12-3383-8F0C7E474A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20213B00-BA52-885D-BB7C-92855D78CFA7}"/>
              </a:ext>
            </a:extLst>
          </p:cNvPr>
          <p:cNvSpPr>
            <a:spLocks noGrp="1"/>
          </p:cNvSpPr>
          <p:nvPr>
            <p:ph type="title"/>
          </p:nvPr>
        </p:nvSpPr>
        <p:spPr/>
        <p:txBody>
          <a:bodyPr>
            <a:noAutofit/>
          </a:bodyPr>
          <a:lstStyle/>
          <a:p>
            <a:pPr algn="ctr"/>
            <a:r>
              <a:rPr lang="zh-TW" altLang="en-US" b="1" dirty="0">
                <a:latin typeface="DFKai-SB" panose="03000509000000000000" pitchFamily="65" charset="-120"/>
                <a:ea typeface="DFKai-SB" panose="03000509000000000000" pitchFamily="65" charset="-120"/>
                <a:cs typeface="Times New Roman" panose="02020603050405020304" pitchFamily="18" charset="0"/>
              </a:rPr>
              <a:t>結論</a:t>
            </a:r>
            <a:endParaRPr lang="zh-TW" altLang="en-US" dirty="0"/>
          </a:p>
        </p:txBody>
      </p:sp>
      <p:sp>
        <p:nvSpPr>
          <p:cNvPr id="6" name="Rectangle 1">
            <a:extLst>
              <a:ext uri="{FF2B5EF4-FFF2-40B4-BE49-F238E27FC236}">
                <a16:creationId xmlns:a16="http://schemas.microsoft.com/office/drawing/2014/main" id="{2BE297AC-657B-C64F-17A1-DE1AF47EB3E6}"/>
              </a:ext>
            </a:extLst>
          </p:cNvPr>
          <p:cNvSpPr>
            <a:spLocks noGrp="1" noChangeArrowheads="1"/>
          </p:cNvSpPr>
          <p:nvPr>
            <p:ph idx="1"/>
          </p:nvPr>
        </p:nvSpPr>
        <p:spPr bwMode="auto">
          <a:xfrm>
            <a:off x="700635" y="1591777"/>
            <a:ext cx="10881765"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200"/>
              </a:spcBef>
              <a:spcAft>
                <a:spcPct val="0"/>
              </a:spcAft>
              <a:buClrTx/>
              <a:buSzTx/>
              <a:buFontTx/>
              <a:buNone/>
              <a:tabLst/>
            </a:pPr>
            <a:r>
              <a:rPr kumimoji="0" lang="zh-TW" altLang="zh-TW" sz="2400" b="0" i="0" u="none" strike="noStrike" cap="none" normalizeH="0" baseline="0" dirty="0">
                <a:ln>
                  <a:noFill/>
                </a:ln>
                <a:solidFill>
                  <a:schemeClr val="tx1"/>
                </a:solidFill>
                <a:effectLst/>
                <a:latin typeface="Arial" panose="020B0604020202020204" pitchFamily="34" charset="0"/>
              </a:rPr>
              <a:t>實驗結果顯示，兩階段分類與直接六分類的表現差異微小（波動範圍不超過 0.0</a:t>
            </a:r>
            <a:r>
              <a:rPr kumimoji="0" lang="en-US" altLang="zh-TW" sz="2400" b="0" i="0" u="none" strike="noStrike" cap="none" normalizeH="0" baseline="0" dirty="0">
                <a:ln>
                  <a:noFill/>
                </a:ln>
                <a:solidFill>
                  <a:schemeClr val="tx1"/>
                </a:solidFill>
                <a:effectLst/>
                <a:latin typeface="Arial" panose="020B0604020202020204" pitchFamily="34" charset="0"/>
              </a:rPr>
              <a:t>5</a:t>
            </a:r>
            <a:r>
              <a:rPr kumimoji="0" lang="zh-TW" altLang="zh-TW" sz="2400" b="0" i="0" u="none" strike="noStrike" cap="none" normalizeH="0" baseline="0" dirty="0">
                <a:ln>
                  <a:noFill/>
                </a:ln>
                <a:solidFill>
                  <a:schemeClr val="tx1"/>
                </a:solidFill>
                <a:effectLst/>
                <a:latin typeface="Arial" panose="020B0604020202020204" pitchFamily="34" charset="0"/>
              </a:rPr>
              <a:t>），可能因分類項目尚不複雜。此外，X </a:t>
            </a:r>
            <a:r>
              <a:rPr lang="zh-TW" altLang="en-US" sz="2400" dirty="0">
                <a:latin typeface="Arial" panose="020B0604020202020204" pitchFamily="34" charset="0"/>
              </a:rPr>
              <a:t>和豆瓣</a:t>
            </a:r>
            <a:r>
              <a:rPr kumimoji="0" lang="zh-TW" altLang="zh-TW" sz="2400" b="0" i="0" u="none" strike="noStrike" cap="none" normalizeH="0" baseline="0" dirty="0">
                <a:ln>
                  <a:noFill/>
                </a:ln>
                <a:solidFill>
                  <a:schemeClr val="tx1"/>
                </a:solidFill>
                <a:effectLst/>
                <a:latin typeface="Arial" panose="020B0604020202020204" pitchFamily="34" charset="0"/>
              </a:rPr>
              <a:t>平台數據的訓練效果較差，可能原因包括：</a:t>
            </a:r>
          </a:p>
          <a:p>
            <a:pPr marL="0" marR="0" lvl="0" indent="0" algn="l" defTabSz="914400" rtl="0" eaLnBrk="0" fontAlgn="base" latinLnBrk="0" hangingPunct="0">
              <a:lnSpc>
                <a:spcPct val="100000"/>
              </a:lnSpc>
              <a:spcBef>
                <a:spcPts val="1200"/>
              </a:spcBef>
              <a:spcAft>
                <a:spcPct val="0"/>
              </a:spcAft>
              <a:buClrTx/>
              <a:buSzTx/>
              <a:buFontTx/>
              <a:buAutoNum type="arabicPeriod"/>
              <a:tabLst/>
            </a:pPr>
            <a:r>
              <a:rPr lang="zh-TW" altLang="en-US" sz="2400" b="1" dirty="0">
                <a:latin typeface="Arial" panose="020B0604020202020204" pitchFamily="34" charset="0"/>
              </a:rPr>
              <a:t>資料</a:t>
            </a:r>
            <a:r>
              <a:rPr kumimoji="0" lang="zh-TW" altLang="zh-TW" sz="2400" b="1" i="0" u="none" strike="noStrike" cap="none" normalizeH="0" baseline="0" dirty="0">
                <a:ln>
                  <a:noFill/>
                </a:ln>
                <a:solidFill>
                  <a:schemeClr val="tx1"/>
                </a:solidFill>
                <a:effectLst/>
                <a:latin typeface="Arial" panose="020B0604020202020204" pitchFamily="34" charset="0"/>
              </a:rPr>
              <a:t>問題</a:t>
            </a:r>
            <a:r>
              <a:rPr kumimoji="0" lang="zh-TW" altLang="zh-TW" sz="2400" b="0" i="0" u="none" strike="noStrike" cap="none" normalizeH="0" baseline="0" dirty="0">
                <a:ln>
                  <a:noFill/>
                </a:ln>
                <a:solidFill>
                  <a:schemeClr val="tx1"/>
                </a:solidFill>
                <a:effectLst/>
                <a:latin typeface="Arial" panose="020B0604020202020204" pitchFamily="34" charset="0"/>
              </a:rPr>
              <a:t>：評論較短、語意模糊，或非正式語言較多，情緒特徵不明顯。 </a:t>
            </a:r>
          </a:p>
          <a:p>
            <a:pPr marL="0" marR="0" lvl="0" indent="0" algn="l" defTabSz="914400" rtl="0" eaLnBrk="0" fontAlgn="base" latinLnBrk="0" hangingPunct="0">
              <a:lnSpc>
                <a:spcPct val="100000"/>
              </a:lnSpc>
              <a:spcBef>
                <a:spcPts val="1200"/>
              </a:spcBef>
              <a:spcAft>
                <a:spcPct val="0"/>
              </a:spcAft>
              <a:buClrTx/>
              <a:buSzTx/>
              <a:buFontTx/>
              <a:buAutoNum type="arabicPeriod" startAt="2"/>
              <a:tabLst/>
            </a:pPr>
            <a:r>
              <a:rPr lang="zh-TW" altLang="en-US" sz="2400" b="1" dirty="0">
                <a:latin typeface="Arial" panose="020B0604020202020204" pitchFamily="34" charset="0"/>
              </a:rPr>
              <a:t>資料</a:t>
            </a:r>
            <a:r>
              <a:rPr kumimoji="0" lang="zh-TW" altLang="zh-TW" sz="2400" b="1" i="0" u="none" strike="noStrike" cap="none" normalizeH="0" baseline="0" dirty="0">
                <a:ln>
                  <a:noFill/>
                </a:ln>
                <a:solidFill>
                  <a:schemeClr val="tx1"/>
                </a:solidFill>
                <a:effectLst/>
                <a:latin typeface="Arial" panose="020B0604020202020204" pitchFamily="34" charset="0"/>
              </a:rPr>
              <a:t>樣本不足</a:t>
            </a:r>
            <a:r>
              <a:rPr kumimoji="0" lang="zh-TW" altLang="zh-TW" sz="2400" b="0" i="0" u="none" strike="noStrike" cap="none" normalizeH="0" baseline="0" dirty="0">
                <a:ln>
                  <a:noFill/>
                </a:ln>
                <a:solidFill>
                  <a:schemeClr val="tx1"/>
                </a:solidFill>
                <a:effectLst/>
                <a:latin typeface="Arial" panose="020B0604020202020204" pitchFamily="34" charset="0"/>
              </a:rPr>
              <a:t>：訓練樣本數量有限，無法覆蓋情緒分類的多樣性。 </a:t>
            </a:r>
          </a:p>
          <a:p>
            <a:pPr marL="0" marR="0" lvl="0" indent="0" algn="l" defTabSz="914400" rtl="0" eaLnBrk="0" fontAlgn="base" latinLnBrk="0" hangingPunct="0">
              <a:lnSpc>
                <a:spcPct val="100000"/>
              </a:lnSpc>
              <a:spcBef>
                <a:spcPts val="1200"/>
              </a:spcBef>
              <a:spcAft>
                <a:spcPct val="0"/>
              </a:spcAft>
              <a:buClrTx/>
              <a:buSzTx/>
              <a:buFontTx/>
              <a:buAutoNum type="arabicPeriod" startAt="3"/>
              <a:tabLst/>
            </a:pPr>
            <a:r>
              <a:rPr kumimoji="0" lang="zh-TW" altLang="zh-TW" sz="2400" b="1" i="0" u="none" strike="noStrike" cap="none" normalizeH="0" baseline="0" dirty="0">
                <a:ln>
                  <a:noFill/>
                </a:ln>
                <a:solidFill>
                  <a:schemeClr val="tx1"/>
                </a:solidFill>
                <a:effectLst/>
                <a:latin typeface="Arial" panose="020B0604020202020204" pitchFamily="34" charset="0"/>
              </a:rPr>
              <a:t>資料噪音較多</a:t>
            </a:r>
            <a:r>
              <a:rPr kumimoji="0" lang="zh-TW" altLang="zh-TW" sz="2400" b="0" i="0" u="none" strike="noStrike" cap="none" normalizeH="0" baseline="0" dirty="0">
                <a:ln>
                  <a:noFill/>
                </a:ln>
                <a:solidFill>
                  <a:schemeClr val="tx1"/>
                </a:solidFill>
                <a:effectLst/>
                <a:latin typeface="Arial" panose="020B0604020202020204" pitchFamily="34" charset="0"/>
              </a:rPr>
              <a:t>：包含與情緒無關的廣告或無意義字符，影響模型學習效果。 </a:t>
            </a:r>
          </a:p>
          <a:p>
            <a:pPr marL="0" marR="0" lvl="0" indent="0" algn="l" defTabSz="914400" rtl="0" eaLnBrk="0" fontAlgn="base" latinLnBrk="0" hangingPunct="0">
              <a:lnSpc>
                <a:spcPct val="100000"/>
              </a:lnSpc>
              <a:spcBef>
                <a:spcPts val="1200"/>
              </a:spcBef>
              <a:spcAft>
                <a:spcPct val="0"/>
              </a:spcAft>
              <a:buClrTx/>
              <a:buSzTx/>
              <a:buFontTx/>
              <a:buNone/>
              <a:tabLst/>
            </a:pPr>
            <a:r>
              <a:rPr kumimoji="0" lang="zh-TW" altLang="zh-TW" sz="2400" b="0" i="0" u="none" strike="noStrike" cap="none" normalizeH="0" baseline="0" dirty="0">
                <a:ln>
                  <a:noFill/>
                </a:ln>
                <a:solidFill>
                  <a:schemeClr val="tx1"/>
                </a:solidFill>
                <a:effectLst/>
                <a:latin typeface="Arial" panose="020B0604020202020204" pitchFamily="34" charset="0"/>
              </a:rPr>
              <a:t>這表明數據來源與質量對情緒分類模型至關重要，未來可通過加強數據預處理和擴充樣本數量進行優化。</a:t>
            </a:r>
          </a:p>
        </p:txBody>
      </p:sp>
      <p:sp>
        <p:nvSpPr>
          <p:cNvPr id="3" name="投影片編號版面配置區 2">
            <a:extLst>
              <a:ext uri="{FF2B5EF4-FFF2-40B4-BE49-F238E27FC236}">
                <a16:creationId xmlns:a16="http://schemas.microsoft.com/office/drawing/2014/main" id="{D4D3A77E-FC9C-5CC8-42CB-51055D7AF6D0}"/>
              </a:ext>
            </a:extLst>
          </p:cNvPr>
          <p:cNvSpPr>
            <a:spLocks noGrp="1"/>
          </p:cNvSpPr>
          <p:nvPr>
            <p:ph type="sldNum" sz="quarter" idx="12"/>
          </p:nvPr>
        </p:nvSpPr>
        <p:spPr/>
        <p:txBody>
          <a:bodyPr/>
          <a:lstStyle/>
          <a:p>
            <a:fld id="{87E7843D-FF13-4365-9478-9625B70A2705}" type="slidenum">
              <a:rPr lang="en-US" smtClean="0"/>
              <a:t>15</a:t>
            </a:fld>
            <a:endParaRPr lang="en-US"/>
          </a:p>
        </p:txBody>
      </p:sp>
    </p:spTree>
    <p:extLst>
      <p:ext uri="{BB962C8B-B14F-4D97-AF65-F5344CB8AC3E}">
        <p14:creationId xmlns:p14="http://schemas.microsoft.com/office/powerpoint/2010/main" val="2397652188"/>
      </p:ext>
    </p:extLst>
  </p:cSld>
  <p:clrMapOvr>
    <a:masterClrMapping/>
  </p:clrMapOvr>
  <mc:AlternateContent xmlns:mc="http://schemas.openxmlformats.org/markup-compatibility/2006">
    <mc:Choice xmlns:p14="http://schemas.microsoft.com/office/powerpoint/2010/main" Requires="p14">
      <p:transition spd="slow" p14:dur="2000" advTm="65669"/>
    </mc:Choice>
    <mc:Fallback>
      <p:transition spd="slow" advTm="6566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199E3-CE1A-36D8-B7FE-1194C3C22BB6}"/>
            </a:ext>
          </a:extLst>
        </p:cNvPr>
        <p:cNvGrpSpPr/>
        <p:nvPr/>
      </p:nvGrpSpPr>
      <p:grpSpPr>
        <a:xfrm>
          <a:off x="0" y="0"/>
          <a:ext cx="0" cy="0"/>
          <a:chOff x="0" y="0"/>
          <a:chExt cx="0" cy="0"/>
        </a:xfrm>
      </p:grpSpPr>
      <p:pic>
        <p:nvPicPr>
          <p:cNvPr id="4" name="Picture 2" descr="简约小清新莫兰迪色系ppt背景-背景-爱西西">
            <a:extLst>
              <a:ext uri="{FF2B5EF4-FFF2-40B4-BE49-F238E27FC236}">
                <a16:creationId xmlns:a16="http://schemas.microsoft.com/office/drawing/2014/main" id="{FD6E3375-40C9-2B12-3383-8F0C7E474A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06"/>
            <a:ext cx="12192000" cy="686990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20213B00-BA52-885D-BB7C-92855D78CFA7}"/>
              </a:ext>
            </a:extLst>
          </p:cNvPr>
          <p:cNvSpPr>
            <a:spLocks noGrp="1"/>
          </p:cNvSpPr>
          <p:nvPr>
            <p:ph type="title"/>
          </p:nvPr>
        </p:nvSpPr>
        <p:spPr>
          <a:xfrm>
            <a:off x="750367" y="2769251"/>
            <a:ext cx="10691265" cy="1307592"/>
          </a:xfrm>
        </p:spPr>
        <p:txBody>
          <a:bodyPr>
            <a:noAutofit/>
          </a:bodyPr>
          <a:lstStyle/>
          <a:p>
            <a:pPr algn="ctr"/>
            <a:r>
              <a:rPr lang="en-US" altLang="zh-TW" sz="9600" b="1" dirty="0">
                <a:latin typeface="DFKai-SB" panose="03000509000000000000" pitchFamily="65" charset="-120"/>
                <a:ea typeface="DFKai-SB" panose="03000509000000000000" pitchFamily="65" charset="-120"/>
                <a:cs typeface="Times New Roman" panose="02020603050405020304" pitchFamily="18" charset="0"/>
              </a:rPr>
              <a:t>END</a:t>
            </a:r>
            <a:endParaRPr lang="zh-TW" altLang="en-US" sz="9600" dirty="0"/>
          </a:p>
        </p:txBody>
      </p:sp>
      <p:sp>
        <p:nvSpPr>
          <p:cNvPr id="3" name="投影片編號版面配置區 2">
            <a:extLst>
              <a:ext uri="{FF2B5EF4-FFF2-40B4-BE49-F238E27FC236}">
                <a16:creationId xmlns:a16="http://schemas.microsoft.com/office/drawing/2014/main" id="{D4D3A77E-FC9C-5CC8-42CB-51055D7AF6D0}"/>
              </a:ext>
            </a:extLst>
          </p:cNvPr>
          <p:cNvSpPr>
            <a:spLocks noGrp="1"/>
          </p:cNvSpPr>
          <p:nvPr>
            <p:ph type="sldNum" sz="quarter" idx="12"/>
          </p:nvPr>
        </p:nvSpPr>
        <p:spPr/>
        <p:txBody>
          <a:bodyPr/>
          <a:lstStyle/>
          <a:p>
            <a:fld id="{87E7843D-FF13-4365-9478-9625B70A2705}" type="slidenum">
              <a:rPr lang="en-US" smtClean="0"/>
              <a:t>16</a:t>
            </a:fld>
            <a:endParaRPr lang="en-US"/>
          </a:p>
        </p:txBody>
      </p:sp>
    </p:spTree>
    <p:extLst>
      <p:ext uri="{BB962C8B-B14F-4D97-AF65-F5344CB8AC3E}">
        <p14:creationId xmlns:p14="http://schemas.microsoft.com/office/powerpoint/2010/main" val="2873687153"/>
      </p:ext>
    </p:extLst>
  </p:cSld>
  <p:clrMapOvr>
    <a:masterClrMapping/>
  </p:clrMapOvr>
  <mc:AlternateContent xmlns:mc="http://schemas.openxmlformats.org/markup-compatibility/2006">
    <mc:Choice xmlns:p14="http://schemas.microsoft.com/office/powerpoint/2010/main" Requires="p14">
      <p:transition spd="slow" p14:dur="2000" advTm="4160"/>
    </mc:Choice>
    <mc:Fallback>
      <p:transition spd="slow" advTm="4160"/>
    </mc:Fallback>
  </mc:AlternateContent>
</p:sld>
</file>

<file path=ppt/theme/theme1.xml><?xml version="1.0" encoding="utf-8"?>
<a:theme xmlns:a="http://schemas.openxmlformats.org/drawingml/2006/main" name="ChronicleVTI">
  <a:themeElements>
    <a:clrScheme name="AnalogousFromLightSeedRightStep">
      <a:dk1>
        <a:srgbClr val="000000"/>
      </a:dk1>
      <a:lt1>
        <a:srgbClr val="FFFFFF"/>
      </a:lt1>
      <a:dk2>
        <a:srgbClr val="303920"/>
      </a:dk2>
      <a:lt2>
        <a:srgbClr val="E2E5E8"/>
      </a:lt2>
      <a:accent1>
        <a:srgbClr val="E78C2C"/>
      </a:accent1>
      <a:accent2>
        <a:srgbClr val="ACA439"/>
      </a:accent2>
      <a:accent3>
        <a:srgbClr val="8AAC48"/>
      </a:accent3>
      <a:accent4>
        <a:srgbClr val="54B735"/>
      </a:accent4>
      <a:accent5>
        <a:srgbClr val="2EB947"/>
      </a:accent5>
      <a:accent6>
        <a:srgbClr val="33B681"/>
      </a:accent6>
      <a:hlink>
        <a:srgbClr val="6084A9"/>
      </a:hlink>
      <a:folHlink>
        <a:srgbClr val="7F7F7F"/>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1408</TotalTime>
  <Words>1482</Words>
  <Application>Microsoft Office PowerPoint</Application>
  <PresentationFormat>寬螢幕</PresentationFormat>
  <Paragraphs>271</Paragraphs>
  <Slides>16</Slides>
  <Notes>0</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16</vt:i4>
      </vt:variant>
    </vt:vector>
  </HeadingPairs>
  <TitlesOfParts>
    <vt:vector size="30" baseType="lpstr">
      <vt:lpstr>Aptos</vt:lpstr>
      <vt:lpstr>MingLiU</vt:lpstr>
      <vt:lpstr>微軟正黑體 Light</vt:lpstr>
      <vt:lpstr>新細明體</vt:lpstr>
      <vt:lpstr>DFKai-SB</vt:lpstr>
      <vt:lpstr>DFKai-SB</vt:lpstr>
      <vt:lpstr>Arial</vt:lpstr>
      <vt:lpstr>Calibri Light</vt:lpstr>
      <vt:lpstr>Calisto MT</vt:lpstr>
      <vt:lpstr>Cambria Math</vt:lpstr>
      <vt:lpstr>Courier New</vt:lpstr>
      <vt:lpstr>Times New Roman</vt:lpstr>
      <vt:lpstr>Univers Condensed</vt:lpstr>
      <vt:lpstr>ChronicleVTI</vt:lpstr>
      <vt:lpstr>電影觀後感情緒分析 </vt:lpstr>
      <vt:lpstr>研究動機及簡介</vt:lpstr>
      <vt:lpstr>研究資料準備 </vt:lpstr>
      <vt:lpstr>研究資料準備 </vt:lpstr>
      <vt:lpstr>爬取資料</vt:lpstr>
      <vt:lpstr>資料清洗 </vt:lpstr>
      <vt:lpstr>斷詞斷句處理 </vt:lpstr>
      <vt:lpstr>人工標籤介面 </vt:lpstr>
      <vt:lpstr>標籤結果</vt:lpstr>
      <vt:lpstr>數據分切 </vt:lpstr>
      <vt:lpstr>分切方式</vt:lpstr>
      <vt:lpstr>實驗性能分析與比較 </vt:lpstr>
      <vt:lpstr>實驗方式 </vt:lpstr>
      <vt:lpstr>實驗結果</vt:lpstr>
      <vt:lpstr>結論</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電影觀後感情緒分析</dc:title>
  <dc:creator>王昱傑</dc:creator>
  <cp:lastModifiedBy>黃宇謙</cp:lastModifiedBy>
  <cp:revision>24</cp:revision>
  <dcterms:created xsi:type="dcterms:W3CDTF">2024-11-21T11:58:55Z</dcterms:created>
  <dcterms:modified xsi:type="dcterms:W3CDTF">2024-11-23T06:46:58Z</dcterms:modified>
</cp:coreProperties>
</file>